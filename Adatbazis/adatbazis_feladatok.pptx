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8" Type="http://schemas.openxmlformats.org/officeDocument/2006/relationships/viewProps" Target="viewProps.xml" /><Relationship Id="rId18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0" Type="http://schemas.openxmlformats.org/officeDocument/2006/relationships/tableStyles" Target="tableStyles.xml" /><Relationship Id="rId18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Adatbázis SQL Feladatok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Gyakorlati példák és megoldások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Tartalom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Feladattípusok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📚 </a:t>
            </a:r>
            <a:r>
              <a:rPr b="1"/>
              <a:t>Könyvtár adatbázis</a:t>
            </a:r>
            <a:r>
              <a:rPr/>
              <a:t> - Alapműveletek</a:t>
            </a:r>
          </a:p>
          <a:p>
            <a:pPr lvl="0" indent="-342900" marL="342900">
              <a:buAutoNum type="arabicPeriod"/>
            </a:pPr>
            <a:r>
              <a:rPr/>
              <a:t>🎬 </a:t>
            </a:r>
            <a:r>
              <a:rPr b="1"/>
              <a:t>Film adatbázis</a:t>
            </a:r>
            <a:r>
              <a:rPr/>
              <a:t> - JOIN gyakorlatok</a:t>
            </a:r>
          </a:p>
          <a:p>
            <a:pPr lvl="0" indent="-342900" marL="342900">
              <a:buAutoNum type="arabicPeriod"/>
            </a:pPr>
            <a:r>
              <a:rPr/>
              <a:t>🎮 </a:t>
            </a:r>
            <a:r>
              <a:rPr b="1"/>
              <a:t>Játékgyűjtemény</a:t>
            </a:r>
            <a:r>
              <a:rPr/>
              <a:t> - GROUP BY és összesítések</a:t>
            </a:r>
          </a:p>
          <a:p>
            <a:pPr lvl="0" indent="-342900" marL="342900">
              <a:buAutoNum type="arabicPeriod"/>
            </a:pPr>
            <a:r>
              <a:rPr/>
              <a:t>👥 </a:t>
            </a:r>
            <a:r>
              <a:rPr b="1"/>
              <a:t>Diák-Tantárgy adatbázis</a:t>
            </a:r>
            <a:r>
              <a:rPr/>
              <a:t> - Komplex lekérdezések</a:t>
            </a:r>
          </a:p>
          <a:p>
            <a:pPr lvl="0" indent="-342900" marL="342900">
              <a:buAutoNum type="arabicPeriod"/>
            </a:pPr>
            <a:r>
              <a:rPr/>
              <a:t>🏪 </a:t>
            </a:r>
            <a:r>
              <a:rPr b="1"/>
              <a:t>Webshop adatbázis</a:t>
            </a:r>
            <a:r>
              <a:rPr/>
              <a:t> - Valós feladatok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Nehézségi szintek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⭐ Kezdő</a:t>
            </a:r>
          </a:p>
          <a:p>
            <a:pPr lvl="0"/>
            <a:r>
              <a:rPr/>
              <a:t>⭐⭐ Haladó</a:t>
            </a:r>
          </a:p>
          <a:p>
            <a:pPr lvl="0"/>
            <a:r>
              <a:rPr/>
              <a:t>⭐⭐⭐ Profi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Könyvtár adatbázis - Adatstruktúra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Konyvek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Harry Potter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J.K. Rowling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Animus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George Orwell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Európa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Egri csillagok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Gárdonyi Géza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Móra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Gyűrűk 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J.R.R. Tolkien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Európa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 2033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Dmitry Glukhovsky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Kolcsonzesek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Kolcsonzes_ID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Kolcsonzo_nev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2024-12-01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Feladat 1 - Alapműveletek ⭐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1.1</a:t>
            </a:r>
            <a:r>
              <a:rPr/>
              <a:t> Listázd ki az összes könyv címét és szerzőjét!</a:t>
            </a:r>
          </a:p>
          <a:p>
            <a:pPr lvl="0" indent="0" marL="0">
              <a:buNone/>
            </a:pPr>
            <a:r>
              <a:rPr b="1"/>
              <a:t>1.2</a:t>
            </a:r>
            <a:r>
              <a:rPr/>
              <a:t> Kérdezd le azokat a könyveket, amelyek 2000 után jelentek meg!</a:t>
            </a:r>
          </a:p>
          <a:p>
            <a:pPr lvl="0" indent="0" marL="0">
              <a:buNone/>
            </a:pPr>
            <a:r>
              <a:rPr b="1"/>
              <a:t>1.3</a:t>
            </a:r>
            <a:r>
              <a:rPr/>
              <a:t> Rendezd a könyveket ár szerint csökkenő sorrendbe!</a:t>
            </a:r>
          </a:p>
          <a:p>
            <a:pPr lvl="0" indent="0" marL="0">
              <a:buNone/>
            </a:pPr>
            <a:r>
              <a:rPr b="1"/>
              <a:t>1.4</a:t>
            </a:r>
            <a:r>
              <a:rPr/>
              <a:t> Hány könyv van az adatbázisban összesen?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1.1 - Címek és szerzők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az összes könyv címét és szerzőjét!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 és MySQL/PostgreSQL is ugyanaz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Cim, Szerzo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Konyvek;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Harry Potter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J.K. Rowling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George Orwell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Egri csillagok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Gárdonyi Géza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Gyűrűk 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J.R.R. Tolkien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 2033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Dmitry Glukhovsky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SELECT Cim, Szerzo</a:t>
            </a:r>
            <a:r>
              <a:rPr/>
              <a:t> - csak ezeket az oszlopokat kérjük</a:t>
            </a:r>
          </a:p>
          <a:p>
            <a:pPr lvl="0"/>
            <a:r>
              <a:rPr>
                <a:latin typeface="Courier"/>
              </a:rPr>
              <a:t>FROM Konyvek</a:t>
            </a:r>
            <a:r>
              <a:rPr/>
              <a:t> - a Konyvek táblából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1.2 - Könyvek 2000 után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Kérdezd le azokat a könyveket, amelyek 2000 után jelentek meg!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Ev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 2033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Dmitry Glukhovsky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WHERE Ev &gt; 2000</a:t>
            </a:r>
            <a:r>
              <a:rPr/>
              <a:t> - csak azokat a sorokat, ahol az év nagyobb mint 2000</a:t>
            </a:r>
          </a:p>
          <a:p>
            <a:pPr lvl="0"/>
            <a:r>
              <a:rPr>
                <a:latin typeface="Courier"/>
              </a:rPr>
              <a:t>*</a:t>
            </a:r>
            <a:r>
              <a:rPr/>
              <a:t> - minden oszlopot megjelenítünk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1.3 - Rendezés ár szerint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Rendezd a könyveket ár szerint csökkenő sorrendbe!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Cim, Szerzo, 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Gyűrűk 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J.R.R. Tolkien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Harry Potter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J.K. Rowling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Egri csillagok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Gárdonyi Géza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 2033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Dmitry Glukhovsky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George Orwell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ORDER BY Ar DESC</a:t>
            </a:r>
            <a:r>
              <a:rPr/>
              <a:t> - csökkenő sorrend (legdrágább elöl)</a:t>
            </a:r>
          </a:p>
          <a:p>
            <a:pPr lvl="0"/>
            <a:r>
              <a:rPr>
                <a:latin typeface="Courier"/>
              </a:rPr>
              <a:t>ASC</a:t>
            </a:r>
            <a:r>
              <a:rPr/>
              <a:t> lenne a növekvő sorrend (alapértelmezett)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1.4 - Könyvek száma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Hány könyv van az adatbázisban összesen?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Konyvek_szama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Konyvek;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Konyvek_szama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COUNT(*)</a:t>
            </a:r>
            <a:r>
              <a:rPr/>
              <a:t> - megszámolja az összes sort</a:t>
            </a:r>
          </a:p>
          <a:p>
            <a:pPr lvl="0"/>
            <a:r>
              <a:rPr>
                <a:latin typeface="Courier"/>
              </a:rPr>
              <a:t>AS Konyvek_szama</a:t>
            </a:r>
            <a:r>
              <a:rPr/>
              <a:t> - átnevezzük az oszlopot (alias)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Feladat 2 - Haladó ⭐⭐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2.1</a:t>
            </a:r>
            <a:r>
              <a:rPr/>
              <a:t> Listázd ki azokat a könyveket, amelyek címe tartalmazza a “Gyűrű” szót!</a:t>
            </a:r>
          </a:p>
          <a:p>
            <a:pPr lvl="0" indent="0" marL="0">
              <a:buNone/>
            </a:pPr>
            <a:r>
              <a:rPr b="1"/>
              <a:t>2.2</a:t>
            </a:r>
            <a:r>
              <a:rPr/>
              <a:t> Számold ki a könyvek átlagárát!</a:t>
            </a:r>
          </a:p>
          <a:p>
            <a:pPr lvl="0" indent="0" marL="0">
              <a:buNone/>
            </a:pPr>
            <a:r>
              <a:rPr b="1"/>
              <a:t>2.3</a:t>
            </a:r>
            <a:r>
              <a:rPr/>
              <a:t> Kérdezd le a legdrágább könyv adatait!</a:t>
            </a:r>
          </a:p>
          <a:p>
            <a:pPr lvl="0" indent="0" marL="0">
              <a:buNone/>
            </a:pPr>
            <a:r>
              <a:rPr b="1"/>
              <a:t>2.4</a:t>
            </a:r>
            <a:r>
              <a:rPr/>
              <a:t> Listázd ki a kiadókat és hogy hány könyvük van! (GROUP BY)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2.1 - Keresés mintára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azokat a könyveket, amelyek címe tartalmazza a “Gyűrű” szót!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Cim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'*Gyűrű*'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MySQL/PostgreSQL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Cim </a:t>
            </a:r>
            <a:r>
              <a:rPr b="1">
                <a:solidFill>
                  <a:srgbClr val="007020"/>
                </a:solidFill>
                <a:latin typeface="Courier"/>
              </a:rPr>
              <a:t>LIKE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'%Gyűrű%'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Gyűrűk 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J.R.R. Tolkien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Európa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LIKE</a:t>
            </a:r>
            <a:r>
              <a:rPr/>
              <a:t> - mintaillesztés</a:t>
            </a:r>
          </a:p>
          <a:p>
            <a:pPr lvl="0"/>
            <a:r>
              <a:rPr>
                <a:latin typeface="Courier"/>
              </a:rPr>
              <a:t>*</a:t>
            </a:r>
            <a:r>
              <a:rPr/>
              <a:t> (Access) vagy </a:t>
            </a:r>
            <a:r>
              <a:rPr>
                <a:latin typeface="Courier"/>
              </a:rPr>
              <a:t>%</a:t>
            </a:r>
            <a:r>
              <a:rPr/>
              <a:t> (MySQL) - bármennyi karakter</a:t>
            </a:r>
          </a:p>
          <a:p>
            <a:pPr lvl="0"/>
            <a:r>
              <a:rPr>
                <a:latin typeface="Courier"/>
              </a:rPr>
              <a:t>*Gyűrű*</a:t>
            </a:r>
            <a:r>
              <a:rPr/>
              <a:t> - bármi előtte és utána is lehet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2.2 - Átlagár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Számold ki a könyvek átlagárát!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(Ar)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Konyvek;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AVG(Ar)</a:t>
            </a:r>
            <a:r>
              <a:rPr/>
              <a:t> - átlag függvény az Ar oszlopon</a:t>
            </a:r>
          </a:p>
          <a:p>
            <a:pPr lvl="0"/>
            <a:r>
              <a:rPr/>
              <a:t>Más hasznos függvények: </a:t>
            </a:r>
            <a:r>
              <a:rPr>
                <a:latin typeface="Courier"/>
              </a:rPr>
              <a:t>SUM()</a:t>
            </a:r>
            <a:r>
              <a:rPr/>
              <a:t>, </a:t>
            </a:r>
            <a:r>
              <a:rPr>
                <a:latin typeface="Courier"/>
              </a:rPr>
              <a:t>MIN()</a:t>
            </a:r>
            <a:r>
              <a:rPr/>
              <a:t>, </a:t>
            </a:r>
            <a:r>
              <a:rPr>
                <a:latin typeface="Courier"/>
              </a:rPr>
              <a:t>MAX()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2.3 - Legdrágább könyv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Kérdezd le a legdrágább könyv adatait!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MySQL/PostgreSQL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Szerzo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Gyűrűk 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J.R.R. Tolkien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Európa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Csökkenő sorrendbe rendezzük ár szerint</a:t>
            </a:r>
          </a:p>
          <a:p>
            <a:pPr lvl="0"/>
            <a:r>
              <a:rPr/>
              <a:t>Az első rekordot kérjük le (</a:t>
            </a:r>
            <a:r>
              <a:rPr>
                <a:latin typeface="Courier"/>
              </a:rPr>
              <a:t>TOP 1</a:t>
            </a:r>
            <a:r>
              <a:rPr/>
              <a:t> vagy </a:t>
            </a:r>
            <a:r>
              <a:rPr>
                <a:latin typeface="Courier"/>
              </a:rPr>
              <a:t>LIMIT 1</a:t>
            </a:r>
            <a:r>
              <a:rPr/>
              <a:t>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📚 Megoldás 2.4 - Kiadók és könyveik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 kiadókat és hogy hány könyvük van!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Kiado,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Konyvek_szama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Konyvek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Kiado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Konyvek_szama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Konyvek_szama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Európa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Animus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Móra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 BY Kiado</a:t>
            </a:r>
            <a:r>
              <a:rPr/>
              <a:t> - kiadónként csoportosítunk</a:t>
            </a:r>
          </a:p>
          <a:p>
            <a:pPr lvl="0"/>
            <a:r>
              <a:rPr>
                <a:latin typeface="Courier"/>
              </a:rPr>
              <a:t>COUNT(*)</a:t>
            </a:r>
            <a:r>
              <a:rPr/>
              <a:t> - megszámoljuk a könyveket csoportonként</a:t>
            </a:r>
          </a:p>
          <a:p>
            <a:pPr lvl="0"/>
            <a:r>
              <a:rPr>
                <a:latin typeface="Courier"/>
              </a:rPr>
              <a:t>ORDER BY Konyvek_szama DESC</a:t>
            </a:r>
            <a:r>
              <a:rPr/>
              <a:t> - legtöbb könyvvel rendelkező elöl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Film adatbázis - Adatstruktúra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Filmek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Megjelenes_ev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Ertekeles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Matrix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Interstellar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Dark Knight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Rendezo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Rendezo_ID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Szuletesi_ev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Wachowski testvérek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Film_Rendezo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Rendezo_ID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Feladat 3 - JOIN műveletek ⭐⭐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3.1</a:t>
            </a:r>
            <a:r>
              <a:rPr/>
              <a:t> Listázd ki az összes film címét és rendezőjét!</a:t>
            </a:r>
          </a:p>
          <a:p>
            <a:pPr lvl="0" indent="0" marL="0">
              <a:buNone/>
            </a:pPr>
            <a:r>
              <a:rPr b="1"/>
              <a:t>3.2</a:t>
            </a:r>
            <a:r>
              <a:rPr/>
              <a:t> Kérdezd le Christopher Nolan filmjeit!</a:t>
            </a:r>
          </a:p>
          <a:p>
            <a:pPr lvl="0" indent="0" marL="0">
              <a:buNone/>
            </a:pPr>
            <a:r>
              <a:rPr b="1"/>
              <a:t>3.3</a:t>
            </a:r>
            <a:r>
              <a:rPr/>
              <a:t> Számold meg, hogy melyik rendezőnek hány filmje van!</a:t>
            </a:r>
          </a:p>
          <a:p>
            <a:pPr lvl="0" indent="0" marL="0">
              <a:buNone/>
            </a:pPr>
            <a:r>
              <a:rPr b="1"/>
              <a:t>3.4</a:t>
            </a:r>
            <a:r>
              <a:rPr/>
              <a:t> Listázd ki azokat a filmeket, amelyek értékelése 8.7 felett van, rendezővel együtt!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Megoldás 3.1 - Filmek és rendezők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az összes film címét és rendezőjét!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 - WHERE módszer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Filmek.Cim, Rendezo.Nev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Filmek, Film_Rendezo, Rendezo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Filmek.Film_ID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Film_Rendezo.Film_ID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Film_Rendezo.Rendezo_ID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Rendezo.Rendezo_ID;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 - INNER JOIN módszer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Filmek.Cim, Rendezo.Nev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Filmek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Film_Rendezo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Filmek.Film_ID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Film_Rendezo.Film_ID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Film_Rendezo.Rendezo_ID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Rendezo.Rendezo_ID;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Matrix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Wachowski testvérek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Interstellar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Dark Knight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Megoldás 3.2 - Nolan filmjei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Kérdezd le Christopher Nolan filmjeit!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Filmek.Cim, Filmek.Megjelenes_ev, Filmek.Ertekeles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Filmek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Film_Rendezo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Filmek.Film_ID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Film_Rendezo.Film_ID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Film_Rendezo.Rendezo_ID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Rendezo.Rendezo_ID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Rendezo.Nev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'Christopher Nolan'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Filmek.Megjelenes_ev;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Megjelenes_ev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Ertekeles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Dark Knight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Interstellar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JOIN-okkal összekapcsoljuk a táblákat</a:t>
            </a:r>
          </a:p>
          <a:p>
            <a:pPr lvl="0"/>
            <a:r>
              <a:rPr/>
              <a:t>WHERE-rel szűrünk a rendező nevére</a:t>
            </a:r>
          </a:p>
          <a:p>
            <a:pPr lvl="0"/>
            <a:r>
              <a:rPr/>
              <a:t>ORDER BY-jal rendezzük megjelenés szerint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Megoldás 3.3 - Rendezők filmszáma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Számold meg, hogy melyik rendezőnek hány filmje van!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Rendezo.Nev,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Filmek_szama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Rendezo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Film_Rendezo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Rendezo.Rendezo_ID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Film_Rendezo.Rendezo_ID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Rendezo.Nev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Filmek_szama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Filmek_szama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Wachowski testvérek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 BY Rendezo.Nev</a:t>
            </a:r>
            <a:r>
              <a:rPr/>
              <a:t> - rendezőnként csoportosítunk</a:t>
            </a:r>
          </a:p>
          <a:p>
            <a:pPr lvl="0"/>
            <a:r>
              <a:rPr>
                <a:latin typeface="Courier"/>
              </a:rPr>
              <a:t>COUNT(*)</a:t>
            </a:r>
            <a:r>
              <a:rPr/>
              <a:t> - filmek számolása csoportonként</a:t>
            </a:r>
          </a:p>
          <a:p>
            <a:pPr lvl="0"/>
            <a:r>
              <a:rPr/>
              <a:t>JOIN szükséges a kapcsolótábla miatt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🎬 Megoldás 3.4 - Legjobb filmek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azokat a filmeket, amelyek értékelése 8.7 felett van, rendezővel együtt!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Filmek.Cim, Filmek.Ertekeles, Rendezo.Nev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Filmek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Film_Rendezo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Filmek.Film_ID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Film_Rendezo.Film_ID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Rendezo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Film_Rendezo.Rendezo_ID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Rendezo.Rendezo_ID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Filmek.Ertekeles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8.7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Filmek.Ertekeles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Ertekeles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Dark Knight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Christopher Nolan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szűrés az értékelésre (&gt; 8.7)</a:t>
            </a:r>
          </a:p>
          <a:p>
            <a:pPr lvl="0"/>
            <a:r>
              <a:rPr/>
              <a:t>JOIN-okkal hozzákapcsoljuk a rendező nevét</a:t>
            </a:r>
          </a:p>
          <a:p>
            <a:pPr lvl="0"/>
            <a:r>
              <a:rPr/>
              <a:t>Csökkenő sorrendbe rendezzük értékelés szerint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Játékgyűjtemény - Adatstruktúra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Jatekok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Jatek_ID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Mufaj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Kiadasev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Witcher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FIFA 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Minecraft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Sandbox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GTA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Witcher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Cyberpunk 2077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FIFA 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Feladat 4 - Csoportosítás és szűrés ⭐⭐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4.1</a:t>
            </a:r>
            <a:r>
              <a:rPr/>
              <a:t> Hány játék van platformonként?</a:t>
            </a:r>
          </a:p>
          <a:p>
            <a:pPr lvl="0" indent="0" marL="0">
              <a:buNone/>
            </a:pPr>
            <a:r>
              <a:rPr b="1"/>
              <a:t>4.2</a:t>
            </a:r>
            <a:r>
              <a:rPr/>
              <a:t> Mi a játékok átlagára műfajonként?</a:t>
            </a:r>
          </a:p>
          <a:p>
            <a:pPr lvl="0" indent="0" marL="0">
              <a:buNone/>
            </a:pPr>
            <a:r>
              <a:rPr b="1"/>
              <a:t>4.3</a:t>
            </a:r>
            <a:r>
              <a:rPr/>
              <a:t> Listázd ki azokat a műfajokat, ahol az átlagár több mint 8000 Ft!</a:t>
            </a:r>
          </a:p>
          <a:p>
            <a:pPr lvl="0" indent="0" marL="0">
              <a:buNone/>
            </a:pPr>
            <a:r>
              <a:rPr b="1"/>
              <a:t>4.4</a:t>
            </a:r>
            <a:r>
              <a:rPr/>
              <a:t> Melyik a legdrágább játék platformonként?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Megoldás 4.1 - Játékok platformonként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Hány játék van platformonként?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Platform,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Jatekok_szama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Platform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Jatekok_szama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Jatekok_szama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 BY Platform</a:t>
            </a:r>
            <a:r>
              <a:rPr/>
              <a:t> - platformonként csoportosítunk</a:t>
            </a:r>
          </a:p>
          <a:p>
            <a:pPr lvl="0"/>
            <a:r>
              <a:rPr>
                <a:latin typeface="Courier"/>
              </a:rPr>
              <a:t>COUNT(*)</a:t>
            </a:r>
            <a:r>
              <a:rPr/>
              <a:t> - játékok száma csoportonként</a:t>
            </a:r>
          </a:p>
          <a:p>
            <a:pPr lvl="0"/>
            <a:r>
              <a:rPr>
                <a:latin typeface="Courier"/>
              </a:rPr>
              <a:t>ORDER BY</a:t>
            </a:r>
            <a:r>
              <a:rPr/>
              <a:t> - rendezés a legtöbb játékkal rendelkező platform elöl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Megoldás 4.2 - Átlagár műfajonként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 a játékok átlagára műfajonként?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Mufaj,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(Ar)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Atlag_ar,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Darab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Mufaj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Atlag_ar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Mufaj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Atlag_ar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Darab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Sandbox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AVG(Ar)</a:t>
            </a:r>
            <a:r>
              <a:rPr/>
              <a:t> - átlagár számítása műfajonként</a:t>
            </a:r>
          </a:p>
          <a:p>
            <a:pPr lvl="0"/>
            <a:r>
              <a:rPr>
                <a:latin typeface="Courier"/>
              </a:rPr>
              <a:t>COUNT(*)</a:t>
            </a:r>
            <a:r>
              <a:rPr/>
              <a:t> - hány játék van az adott műfajban</a:t>
            </a:r>
          </a:p>
          <a:p>
            <a:pPr lvl="0"/>
            <a:r>
              <a:rPr/>
              <a:t>RPG átlag: (8000 + 9000 + 12000) / 3 = 9667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Megoldás 4.3 - HAVING szűrés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azokat a műfajokat, ahol az átlagár több mint 8000 Ft!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Mufaj,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(Ar)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Atlag_ar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Mufaj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(Ar)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8000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Atlag_ar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Mufaj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Atlag_ar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9667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HAVING AVG(Ar) &gt; 8000</a:t>
            </a:r>
            <a:r>
              <a:rPr/>
              <a:t> - szűrés csoportosítás </a:t>
            </a:r>
            <a:r>
              <a:rPr b="1"/>
              <a:t>után</a:t>
            </a:r>
          </a:p>
          <a:p>
            <a:pPr lvl="0"/>
            <a:r>
              <a:rPr/>
              <a:t>WHERE nem működne itt, mert az csoportosítás előtt szűr</a:t>
            </a:r>
          </a:p>
          <a:p>
            <a:pPr lvl="0"/>
            <a:r>
              <a:rPr/>
              <a:t>HAVING-et aggregált függvényekkel használjuk</a:t>
            </a:r>
          </a:p>
          <a:p>
            <a:pPr lvl="0" indent="0" marL="0">
              <a:buNone/>
            </a:pPr>
            <a:r>
              <a:rPr b="1"/>
              <a:t>FONTOS:</a:t>
            </a:r>
            <a:r>
              <a:rPr/>
              <a:t> WHERE vs HAVING - </a:t>
            </a:r>
            <a:r>
              <a:rPr b="1"/>
              <a:t>WHERE</a:t>
            </a:r>
            <a:r>
              <a:rPr/>
              <a:t> = egyedi sorok szűrése (csoportosítás előtt) - </a:t>
            </a:r>
            <a:r>
              <a:rPr b="1"/>
              <a:t>HAVING</a:t>
            </a:r>
            <a:r>
              <a:rPr/>
              <a:t> = csoportok szűrése (csoportosítás után)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🎮 Megoldás 4.4 - Legdrágább játék platformonként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Melyik a legdrágább játék platformonként?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Platform,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(Ar)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Legdragabb_ar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Platform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Legdragabb_ar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Legdragabb_ar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Bónusz - A játék címével együtt (Access)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Platform, Cim, Ar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Ar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(Ar)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Jatekok </a:t>
            </a:r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Platform);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Diák-Tantárgy - Adatstruktúra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Diakok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Osztaly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Tantargyak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Tantargy_ID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Matematika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Informatika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Történelem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Jegyek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Tantargy_ID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2024-12-01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Feladat 5 - Komplex lekérdezések ⭐⭐⭐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5.1</a:t>
            </a:r>
            <a:r>
              <a:rPr/>
              <a:t> Listázd ki minden diák átlagát!</a:t>
            </a:r>
          </a:p>
          <a:p>
            <a:pPr lvl="0" indent="0" marL="0">
              <a:buNone/>
            </a:pPr>
            <a:r>
              <a:rPr b="1"/>
              <a:t>5.2</a:t>
            </a:r>
            <a:r>
              <a:rPr/>
              <a:t> Kik azok a diákok, akiknek az átlaga 4.5 felett van?</a:t>
            </a:r>
          </a:p>
          <a:p>
            <a:pPr lvl="0" indent="0" marL="0">
              <a:buNone/>
            </a:pPr>
            <a:r>
              <a:rPr b="1"/>
              <a:t>5.3</a:t>
            </a:r>
            <a:r>
              <a:rPr/>
              <a:t> Tantárgyanként mennyi a jegyek átlaga?</a:t>
            </a:r>
          </a:p>
          <a:p>
            <a:pPr lvl="0" indent="0" marL="0">
              <a:buNone/>
            </a:pPr>
            <a:r>
              <a:rPr b="1"/>
              <a:t>5.4</a:t>
            </a:r>
            <a:r>
              <a:rPr/>
              <a:t> Listázd ki minden diák nevét, tantárgyát és jegyét!</a:t>
            </a:r>
          </a:p>
          <a:p>
            <a:pPr lvl="0" indent="0" marL="0">
              <a:buNone/>
            </a:pPr>
            <a:r>
              <a:rPr b="1"/>
              <a:t>5.5</a:t>
            </a:r>
            <a:r>
              <a:rPr/>
              <a:t> Ki kapta a legtöbb ötöst?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Megoldás 5.1 - Diákok átlaga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minden diák átlagát!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JOIN összekapcsolja a Diakok és Jegyek táblákat</a:t>
            </a:r>
          </a:p>
          <a:p>
            <a:pPr lvl="0"/>
            <a:r>
              <a:rPr/>
              <a:t>GROUP BY Diakok.Nev - diákonként csoportosítunk</a:t>
            </a:r>
          </a:p>
          <a:p>
            <a:pPr lvl="0"/>
            <a:r>
              <a:rPr/>
              <a:t>AVG(Jegyek.Jegy) - átlag számítása diákonként</a:t>
            </a:r>
          </a:p>
          <a:p>
            <a:pPr lvl="0"/>
            <a:r>
              <a:rPr/>
              <a:t>Kiss Anna: (5+4+4)/3 = 4.33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Megoldás 5.2 - Jó átlagú diákok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Kik azok a diákok, akiknek az átlaga 4.5 felett van?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4.5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HAVING AVG(Jegyek.Jegy) &gt; 4.5 - szűrés az átlag után</a:t>
            </a:r>
          </a:p>
          <a:p>
            <a:pPr lvl="0"/>
            <a:r>
              <a:rPr/>
              <a:t>WHERE nem működne, mert az átlag csak csoportosítás után számítódik ki</a:t>
            </a:r>
          </a:p>
          <a:p>
            <a:pPr lvl="0"/>
            <a:r>
              <a:rPr/>
              <a:t>Csak Tóth Eszter felel meg a feltételnek (5.0 &gt; 4.5)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Megoldás 5.3 - Átlag tantárgyanként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Tantárgyanként mennyi a jegyek átlaga?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Tantargyak.Nev,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Atlag,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Jegyek_szama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Tantargyak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Tantargyak.Tantargy_ID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Jegyek.Tantargy_ID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Tantargyak.Nev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Jegyek_szama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Történelem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Tantárgyanként csoportosítunk</a:t>
            </a:r>
          </a:p>
          <a:p>
            <a:pPr lvl="0"/>
            <a:r>
              <a:rPr/>
              <a:t>Matematika: (5+3+5+4)/4 = 4.25</a:t>
            </a:r>
          </a:p>
          <a:p>
            <a:pPr lvl="0"/>
            <a:r>
              <a:rPr/>
              <a:t>Informatika: (4+5)/2 = 4.5</a:t>
            </a:r>
          </a:p>
          <a:p>
            <a:pPr lvl="0"/>
            <a:r>
              <a:rPr/>
              <a:t>Történelem: 5/1 = 5.0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Megoldás 5.4 - Teljes lista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minden diák nevét, tantárgyát és jegyét!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Tantargyak.Nev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Tantargy, Jegyek.Jegy, Jegyek.Datum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Jegyek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Jegyek.Diak_ID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Diakok.Diak_ID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Tantargyak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Jegyek.Tantargy_ID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Tantargyak.Tantargy_ID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Diakok.Nev, Jegyek.Datum;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 (részlet)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Tantargy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2024-12-01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Nagy Péter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Matematika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Két JOIN: Diakok és Tantargyak csatlakoztatása</a:t>
            </a:r>
          </a:p>
          <a:p>
            <a:pPr lvl="0"/>
            <a:r>
              <a:rPr/>
              <a:t>AS Tantargy - átnevezés, hogy ne legyen két “Nev” oszlop</a:t>
            </a:r>
          </a:p>
          <a:p>
            <a:pPr lvl="0"/>
            <a:r>
              <a:rPr/>
              <a:t>Rendezés név, majd dátum szerint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👥 Megoldás 5.5 - Legtöbb ötös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kapta a legtöbb ötöst?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Diakok.Nev,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Otosok_szama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Jegyek.Jegy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Otosok_szama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MySQL/PostgreSQL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Diakok.Nev,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Otosok_szama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Jegyek.Jegy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Otosok_szama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Otosok_szama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Tóth Eszter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Webshop - Adatstruktúra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Táblák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Ugyfelek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Ugyfel_ID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Varos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Kovács János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kovacs@email.hu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Budapest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Szabó Éva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szabo@email.hu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Debrecen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Molnár Gábor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molnar@email.hu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Budapest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Termekek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Termek_ID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Elektronika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Egér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Elektronika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Könyv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Fejhallgató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Elektronika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Rendelesek tábla: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Rendeles_ID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Ugyfel_ID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Termek_ID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Mennyiseg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2024-11-15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2024-12-01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Feladat 6 - Valós feladatok ⭐⭐⭐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6.1</a:t>
            </a:r>
            <a:r>
              <a:rPr/>
              <a:t> Mennyi bevételt hozott összesen a webshop?</a:t>
            </a:r>
          </a:p>
          <a:p>
            <a:pPr lvl="0" indent="0" marL="0">
              <a:buNone/>
            </a:pPr>
            <a:r>
              <a:rPr b="1"/>
              <a:t>6.2</a:t>
            </a:r>
            <a:r>
              <a:rPr/>
              <a:t> Ki költötte a legtöbb pénzt?</a:t>
            </a:r>
          </a:p>
          <a:p>
            <a:pPr lvl="0" indent="0" marL="0">
              <a:buNone/>
            </a:pPr>
            <a:r>
              <a:rPr b="1"/>
              <a:t>6.3</a:t>
            </a:r>
            <a:r>
              <a:rPr/>
              <a:t> Melyik kategóriából adtak el a legtöbbet?</a:t>
            </a:r>
          </a:p>
          <a:p>
            <a:pPr lvl="0" indent="0" marL="0">
              <a:buNone/>
            </a:pPr>
            <a:r>
              <a:rPr b="1"/>
              <a:t>6.4</a:t>
            </a:r>
            <a:r>
              <a:rPr/>
              <a:t> Kik azok a vásárlók, akik több mint 100 000 Ft-ért rendeltek összesen?</a:t>
            </a:r>
          </a:p>
          <a:p>
            <a:pPr lvl="0" indent="0" marL="0">
              <a:buNone/>
            </a:pPr>
            <a:r>
              <a:rPr b="1"/>
              <a:t>6.5</a:t>
            </a:r>
            <a:r>
              <a:rPr/>
              <a:t> Listázd ki városonként az összes vásárlást!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Megoldás 6.1 - Összbevétel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Mennyi bevételt hozott összesen a webshop?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Ossz_bevetel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Rendelesek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Termekek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Rendelesek.Termek_ID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Termekek.Termek_ID;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Ossz_bevetel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Számítás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Laptop: 250000 × 1 = 250000</a:t>
            </a:r>
          </a:p>
          <a:p>
            <a:pPr lvl="0"/>
            <a:r>
              <a:rPr/>
              <a:t>Egér: 5000 × 2 = 10000</a:t>
            </a:r>
          </a:p>
          <a:p>
            <a:pPr lvl="0"/>
            <a:r>
              <a:rPr/>
              <a:t>Könyv: 3500 × 3 = 10500</a:t>
            </a:r>
          </a:p>
          <a:p>
            <a:pPr lvl="0"/>
            <a:r>
              <a:rPr/>
              <a:t>Fejhallgató: 15000 × 1 = 15000</a:t>
            </a:r>
          </a:p>
          <a:p>
            <a:pPr lvl="0"/>
            <a:r>
              <a:rPr/>
              <a:t>Fejhallgató: 15000 × 2 = 30000</a:t>
            </a:r>
          </a:p>
          <a:p>
            <a:pPr lvl="0"/>
            <a:r>
              <a:rPr b="1"/>
              <a:t>Összesen: 315500</a:t>
            </a:r>
            <a:r>
              <a:rPr/>
              <a:t> (javított!)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Megoldás 6.2 - Legnagyobb vásárló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költötte a legtöbb pénzt?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MS Access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Ugyfelek.Nev, 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Osszeg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Rendelesek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Ugyfelek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Rendelesek.Ugyfel_ID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Ugyfelek.Ugyfel_ID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Termekek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Rendelesek.Termek_ID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Termekek.Termek_ID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Ugyfelek.Nev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Osszeg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Osszeg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Kovács János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290000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Számítás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Kovács János: 250000 + 10000 + 30000 = 290000</a:t>
            </a:r>
          </a:p>
          <a:p>
            <a:pPr lvl="0"/>
            <a:r>
              <a:rPr/>
              <a:t>Szabó Éva: 10500</a:t>
            </a:r>
          </a:p>
          <a:p>
            <a:pPr lvl="0"/>
            <a:r>
              <a:rPr/>
              <a:t>Molnár Gábor: 15000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Megoldás 6.3 - Legjobb kategória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Melyik kategóriából adtak el a legtöbbet?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Termekek.Kategoria, 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Bevetel,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Darab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Rendelesek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Termekek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Rendelesek.Termek_ID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Termekek.Termek_ID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Termekek.Kategoria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Bevetel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Bevetel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Darab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Elektronika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Média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Elektronika: Laptop + Egér + Fejhallgató (kétszer)</a:t>
            </a:r>
          </a:p>
          <a:p>
            <a:pPr lvl="0"/>
            <a:r>
              <a:rPr/>
              <a:t>Média: csak a Könyv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Megoldás 6.4 - Nagy vásárlók</a:t>
            </a:r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Kik azok a vásárlók, akik több mint 100 000 Ft-ért rendeltek összesen?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Ugyfelek.Nev, 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Ossz_vasarlas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Rendelesek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Ugyfelek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Rendelesek.Ugyfel_ID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Ugyfelek.Ugyfel_ID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Termekek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Rendelesek.Termek_ID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Termekek.Termek_ID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Ugyfelek.Nev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100000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Ossz_vasarlas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Ossz_vasarlas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Kovács János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290000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HAVING szűrés a csoportosított összeg alapján</a:t>
            </a:r>
          </a:p>
          <a:p>
            <a:pPr lvl="0"/>
            <a:r>
              <a:rPr/>
              <a:t>Csak Kovács János lépte túl a 100 000 Ft-ot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🏪 Megoldás 6.5 - Vásárlások városonként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Listázd ki városonként az összes vásárlást!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Ugyfelek.Varos, 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Rendelesek_szama,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(Termekek.Ar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Rendelesek.Mennyiseg)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Ossz_bevetel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Rendelesek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Ugyfelek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Rendelesek.Ugyfel_ID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Ugyfelek.Ugyfel_ID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Termekek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Rendelesek.Termek_ID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Termekek.Termek_ID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Ugyfelek.Varos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Ossz_bevetel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Rendelesek_szama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Ossz_bevetel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Budapest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305000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Debrecen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Budapest: Kovács János + Molnár Gábor</a:t>
            </a:r>
          </a:p>
          <a:p>
            <a:pPr lvl="0"/>
            <a:r>
              <a:rPr/>
              <a:t>Debrecen: Szabó Éva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💡 Tippek és trükkök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Gyakori hibák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WHERE vs HAVING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❌ ROSSZ - aggregált függvény WHERE-ben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Osztaly,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✅ JÓ - aggregált függvény HAVING-ben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Osztaly,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2. GROUP BY minden nem aggregált oszlopra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❌ ROSSZ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Osztaly;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✅ JÓ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Nev, Osztaly;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💡 Tippek és trükkök 2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Hasznos technikák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Aliasok használata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Olvashatóbb lekérdezés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d.Nev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Diak_neve,</a:t>
            </a:r>
            <a:br/>
            <a:r>
              <a:rPr>
                <a:latin typeface="Courier"/>
              </a:rPr>
              <a:t>    t.Nev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Tantargy_neve,</a:t>
            </a:r>
            <a:br/>
            <a:r>
              <a:rPr>
                <a:latin typeface="Courier"/>
              </a:rPr>
              <a:t>    j.Jegy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Tantargyak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j.Tantargy_ID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t.Tantargy_ID;</a:t>
            </a:r>
          </a:p>
          <a:p>
            <a:pPr lvl="0" indent="0" marL="0">
              <a:buNone/>
            </a:pPr>
            <a:r>
              <a:rPr b="1"/>
              <a:t>4. COUNT vs COUNT(oszlop)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COUNT(*) - minden sort számol (NULL-okkal együtt)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COUNT(oszlop) - csak a nem NULL értékeket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(Email)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💡 Tippek és trükkök 3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Optimalizálási tippek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5. Csak a szükséges oszlopokat kérd 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❌ Lassabb, több adat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-- ✅ Gyorsabb, kevesebb adat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Nev, Osztaly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Diakok;</a:t>
            </a:r>
          </a:p>
          <a:p>
            <a:pPr lvl="0" indent="0" marL="0">
              <a:buNone/>
            </a:pPr>
            <a:r>
              <a:rPr b="1"/>
              <a:t>6. Index használata</a:t>
            </a:r>
            <a:r>
              <a:rPr/>
              <a:t> - Elsődleges kulcsok automatikusan indexeltek - Gyakran használt WHERE feltételekhez érdemes index - JOIN-okban szereplő oszlopok indexelése gyorsít</a:t>
            </a:r>
          </a:p>
          <a:p>
            <a:pPr lvl="0" indent="0" marL="0">
              <a:buNone/>
            </a:pPr>
            <a:r>
              <a:rPr b="1"/>
              <a:t>7. LIMIT/TOP használata nagy táblákban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 Első 100 rekord gyors lekérdezése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TOP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NagyTabla;  </a:t>
            </a:r>
            <a:r>
              <a:rPr i="1">
                <a:solidFill>
                  <a:srgbClr val="60A0B0"/>
                </a:solidFill>
                <a:latin typeface="Courier"/>
              </a:rPr>
              <a:t>-- Access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NagyTabla </a:t>
            </a:r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; </a:t>
            </a:r>
            <a:r>
              <a:rPr i="1">
                <a:solidFill>
                  <a:srgbClr val="60A0B0"/>
                </a:solidFill>
                <a:latin typeface="Courier"/>
              </a:rPr>
              <a:t>-- MySQL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📝 Gyakorló feladatok - Próbáld ki!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Könyvtár adatbázis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</a:t>
            </a:r>
            <a:r>
              <a:rPr/>
              <a:t> Listázd ki az Európa kiadó könyveit!</a:t>
            </a:r>
          </a:p>
          <a:p>
            <a:pPr lvl="0" indent="0" marL="0">
              <a:buNone/>
            </a:pPr>
            <a:r>
              <a:rPr b="1"/>
              <a:t>2.</a:t>
            </a:r>
            <a:r>
              <a:rPr/>
              <a:t> Melyik szerző könyvei a legdrágábbak átlagosan?</a:t>
            </a:r>
          </a:p>
          <a:p>
            <a:pPr lvl="0" indent="0" marL="0">
              <a:buNone/>
            </a:pPr>
            <a:r>
              <a:rPr b="1"/>
              <a:t>3.</a:t>
            </a:r>
            <a:r>
              <a:rPr/>
              <a:t> Hányszor kölcsönözték ki a “Harry Potter” című könyvet?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Film adatbázis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</a:t>
            </a:r>
            <a:r>
              <a:rPr/>
              <a:t> Melyik a legrégebbi film az adatbázisban?</a:t>
            </a:r>
          </a:p>
          <a:p>
            <a:pPr lvl="0" indent="0" marL="0">
              <a:buNone/>
            </a:pPr>
            <a:r>
              <a:rPr b="1"/>
              <a:t>5.</a:t>
            </a:r>
            <a:r>
              <a:rPr/>
              <a:t> Listázd ki az éveket és hogy hány film jelent meg akkor!</a:t>
            </a:r>
          </a:p>
        </p:txBody>
      </p:sp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Játékgyűjtemény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</a:t>
            </a:r>
            <a:r>
              <a:rPr/>
              <a:t> Melyik platformon a legolcsóbb a játékok átlagára?</a:t>
            </a:r>
          </a:p>
          <a:p>
            <a:pPr lvl="0" indent="0" marL="0">
              <a:buNone/>
            </a:pPr>
            <a:r>
              <a:rPr b="1"/>
              <a:t>7.</a:t>
            </a:r>
            <a:r>
              <a:rPr/>
              <a:t> Hány RPG játék került ki 2015 után?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Bónusz feladat - Mindent egyben! ⭐⭐⭐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Összetett feladat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Készíts egy lekérdezést, amely: - Listázza ki azokat a </a:t>
            </a:r>
            <a:r>
              <a:rPr b="1"/>
              <a:t>diákokat</a:t>
            </a:r>
            <a:r>
              <a:rPr/>
              <a:t>, akiknek - </a:t>
            </a:r>
            <a:r>
              <a:rPr b="1"/>
              <a:t>Matematikából</a:t>
            </a:r>
            <a:r>
              <a:rPr/>
              <a:t> az átlaga legalább </a:t>
            </a:r>
            <a:r>
              <a:rPr b="1"/>
              <a:t>4.0</a:t>
            </a:r>
            <a:r>
              <a:rPr/>
              <a:t> - ÉS legalább </a:t>
            </a:r>
            <a:r>
              <a:rPr b="1"/>
              <a:t>2 jegyük</a:t>
            </a:r>
            <a:r>
              <a:rPr/>
              <a:t> van ebből a tantárgyból - Rendezd őket átlag szerint csökkenő sorrendbe!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Megoldás a következő dián…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Bónusz feladat - Megoldás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Lekérdezés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Diakok.Nev,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Matek_atlag,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Jegyek_szama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Diakok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Jegyek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Diakok.Diak_ID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Jegyek.Diak_ID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INNER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Tantargyak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Jegyek.Tantargy_ID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Tantargyak.Tantargy_ID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Tantargyak.Nev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'Matematika'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Diakok.Nev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(Jegyek.Jegy)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Matek_atlag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Eredmény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Matek_atlag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Jegyek_szama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Kiss Anna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Magyarázat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szűri a tantárgyat</a:t>
            </a:r>
          </a:p>
          <a:p>
            <a:pPr lvl="0"/>
            <a:r>
              <a:rPr/>
              <a:t>GROUP BY diákonként csoportosít</a:t>
            </a:r>
          </a:p>
          <a:p>
            <a:pPr lvl="0"/>
            <a:r>
              <a:rPr/>
              <a:t>HAVING szűri az átlagot ÉS a jegyek számát</a:t>
            </a:r>
          </a:p>
          <a:p>
            <a:pPr lvl="0"/>
            <a:r>
              <a:rPr/>
              <a:t>Csak Kiss Anna felel meg (2 matek jegy: 5 és 4, átlag 4.5)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Összefoglalás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 gyakoroltunk?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Alapműveletek</a:t>
            </a:r>
            <a:r>
              <a:rPr/>
              <a:t>: SELECT, WHERE, ORDER BY</a:t>
            </a:r>
            <a:br/>
            <a:r>
              <a:rPr/>
              <a:t>✅ </a:t>
            </a:r>
            <a:r>
              <a:rPr b="1"/>
              <a:t>Aggregált függvények</a:t>
            </a:r>
            <a:r>
              <a:rPr/>
              <a:t>: COUNT, AVG, SUM, MIN, MAX</a:t>
            </a:r>
            <a:br/>
            <a:r>
              <a:rPr/>
              <a:t>✅ </a:t>
            </a:r>
            <a:r>
              <a:rPr b="1"/>
              <a:t>Csoportosítás</a:t>
            </a:r>
            <a:r>
              <a:rPr/>
              <a:t>: GROUP BY, HAVING</a:t>
            </a:r>
            <a:br/>
            <a:r>
              <a:rPr/>
              <a:t>✅ </a:t>
            </a:r>
            <a:r>
              <a:rPr b="1"/>
              <a:t>Összekapcsolások</a:t>
            </a:r>
            <a:r>
              <a:rPr/>
              <a:t>: INNER JOIN, többszörös JOIN</a:t>
            </a:r>
            <a:br/>
            <a:r>
              <a:rPr/>
              <a:t>✅ </a:t>
            </a:r>
            <a:r>
              <a:rPr b="1"/>
              <a:t>Szűrések</a:t>
            </a:r>
            <a:r>
              <a:rPr/>
              <a:t>: WHERE, HAVING, LIKE</a:t>
            </a:r>
            <a:br/>
            <a:r>
              <a:rPr/>
              <a:t>✅ </a:t>
            </a:r>
            <a:r>
              <a:rPr b="1"/>
              <a:t>Rendezés</a:t>
            </a:r>
            <a:r>
              <a:rPr/>
              <a:t>: ORDER BY ASC/DESC</a:t>
            </a:r>
            <a:br/>
            <a:r>
              <a:rPr/>
              <a:t>✅ </a:t>
            </a:r>
            <a:r>
              <a:rPr b="1"/>
              <a:t>Korlátozás</a:t>
            </a:r>
            <a:r>
              <a:rPr/>
              <a:t>: TOP, LIMIT</a:t>
            </a:r>
          </a:p>
        </p:txBody>
      </p:sp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Következő lépések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🔄 Gyakorold újra ezeket a feladatokat</a:t>
            </a:r>
          </a:p>
          <a:p>
            <a:pPr lvl="0" indent="-342900" marL="342900">
              <a:buAutoNum type="arabicPeriod"/>
            </a:pPr>
            <a:r>
              <a:rPr/>
              <a:t>💡 Gondolj ki saját példákat</a:t>
            </a:r>
          </a:p>
          <a:p>
            <a:pPr lvl="0" indent="-342900" marL="342900">
              <a:buAutoNum type="arabicPeriod"/>
            </a:pPr>
            <a:r>
              <a:rPr/>
              <a:t>🎓 Próbáld ki MS Access-ben vagy MySQL-ben</a:t>
            </a:r>
          </a:p>
          <a:p>
            <a:pPr lvl="0" indent="-342900" marL="342900">
              <a:buAutoNum type="arabicPeriod"/>
            </a:pPr>
            <a:r>
              <a:rPr/>
              <a:t>🏆 Készíts saját adatbázist egy hobbiról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Köszönöm a figyelmet!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Jó gyakorlást! 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Hasznos források:</a:t>
            </a:r>
            <a:r>
              <a:rPr/>
              <a:t> - W3Schools SQL: w3schools.com/sql - SQLZoo: sqlzoo.net - HackerRank SQL: hackerrank.com/domains/sql</a:t>
            </a:r>
          </a:p>
          <a:p>
            <a:pPr lvl="0" indent="0" marL="0">
              <a:buNone/>
            </a:pPr>
            <a:r>
              <a:rPr b="1"/>
              <a:t>Ne feledd:</a:t>
            </a:r>
            <a:r>
              <a:rPr/>
              <a:t> - A gyakorlás a legfontosabb! 🎯 - Hibázni emberi - tanulj belőle! 📚 - Kérdezz, ha elakadtál! 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2025-12-06T21:55:39Z</dcterms:created>
  <dcterms:modified xsi:type="dcterms:W3CDTF">2025-12-06T21:55:39Z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