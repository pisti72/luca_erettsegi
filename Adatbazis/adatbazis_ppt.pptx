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0" Type="http://schemas.openxmlformats.org/officeDocument/2006/relationships/slide" Target="slides/slide149.xml" /><Relationship Id="rId151" Type="http://schemas.openxmlformats.org/officeDocument/2006/relationships/slide" Target="slides/slide150.xml" /><Relationship Id="rId152" Type="http://schemas.openxmlformats.org/officeDocument/2006/relationships/slide" Target="slides/slide151.xml" /><Relationship Id="rId153" Type="http://schemas.openxmlformats.org/officeDocument/2006/relationships/slide" Target="slides/slide152.xml" /><Relationship Id="rId154" Type="http://schemas.openxmlformats.org/officeDocument/2006/relationships/slide" Target="slides/slide153.xml" /><Relationship Id="rId155" Type="http://schemas.openxmlformats.org/officeDocument/2006/relationships/slide" Target="slides/slide154.xml" /><Relationship Id="rId156" Type="http://schemas.openxmlformats.org/officeDocument/2006/relationships/slide" Target="slides/slide155.xml" /><Relationship Id="rId157" Type="http://schemas.openxmlformats.org/officeDocument/2006/relationships/slide" Target="slides/slide156.xml" /><Relationship Id="rId158" Type="http://schemas.openxmlformats.org/officeDocument/2006/relationships/slide" Target="slides/slide157.xml" /><Relationship Id="rId159" Type="http://schemas.openxmlformats.org/officeDocument/2006/relationships/slide" Target="slides/slide158.xml" /><Relationship Id="rId160" Type="http://schemas.openxmlformats.org/officeDocument/2006/relationships/slide" Target="slides/slide159.xml" /><Relationship Id="rId161" Type="http://schemas.openxmlformats.org/officeDocument/2006/relationships/slide" Target="slides/slide160.xml" /><Relationship Id="rId162" Type="http://schemas.openxmlformats.org/officeDocument/2006/relationships/slide" Target="slides/slide161.xml" /><Relationship Id="rId163" Type="http://schemas.openxmlformats.org/officeDocument/2006/relationships/slide" Target="slides/slide162.xml" /><Relationship Id="rId164" Type="http://schemas.openxmlformats.org/officeDocument/2006/relationships/slide" Target="slides/slide163.xml" /><Relationship Id="rId165" Type="http://schemas.openxmlformats.org/officeDocument/2006/relationships/slide" Target="slides/slide164.xml" /><Relationship Id="rId166" Type="http://schemas.openxmlformats.org/officeDocument/2006/relationships/slide" Target="slides/slide165.xml" /><Relationship Id="rId167" Type="http://schemas.openxmlformats.org/officeDocument/2006/relationships/slide" Target="slides/slide166.xml" /><Relationship Id="rId168" Type="http://schemas.openxmlformats.org/officeDocument/2006/relationships/slide" Target="slides/slide167.xml" /><Relationship Id="rId169" Type="http://schemas.openxmlformats.org/officeDocument/2006/relationships/slide" Target="slides/slide168.xml" /><Relationship Id="rId170" Type="http://schemas.openxmlformats.org/officeDocument/2006/relationships/slide" Target="slides/slide169.xml" /><Relationship Id="rId171" Type="http://schemas.openxmlformats.org/officeDocument/2006/relationships/slide" Target="slides/slide170.xml" /><Relationship Id="rId172" Type="http://schemas.openxmlformats.org/officeDocument/2006/relationships/slide" Target="slides/slide171.xml" /><Relationship Id="rId173" Type="http://schemas.openxmlformats.org/officeDocument/2006/relationships/slide" Target="slides/slide172.xml" /><Relationship Id="rId174" Type="http://schemas.openxmlformats.org/officeDocument/2006/relationships/slide" Target="slides/slide173.xml" /><Relationship Id="rId175" Type="http://schemas.openxmlformats.org/officeDocument/2006/relationships/slide" Target="slides/slide174.xml" /><Relationship Id="rId176" Type="http://schemas.openxmlformats.org/officeDocument/2006/relationships/slide" Target="slides/slide175.xml" /><Relationship Id="rId177" Type="http://schemas.openxmlformats.org/officeDocument/2006/relationships/slide" Target="slides/slide176.xml" /><Relationship Id="rId178" Type="http://schemas.openxmlformats.org/officeDocument/2006/relationships/slide" Target="slides/slide177.xml" /><Relationship Id="rId179" Type="http://schemas.openxmlformats.org/officeDocument/2006/relationships/slide" Target="slides/slide178.xml" /><Relationship Id="rId180" Type="http://schemas.openxmlformats.org/officeDocument/2006/relationships/slide" Target="slides/slide179.xml" /><Relationship Id="rId181" Type="http://schemas.openxmlformats.org/officeDocument/2006/relationships/slide" Target="slides/slide180.xml" /><Relationship Id="rId182" Type="http://schemas.openxmlformats.org/officeDocument/2006/relationships/slide" Target="slides/slide181.xml" /><Relationship Id="rId183" Type="http://schemas.openxmlformats.org/officeDocument/2006/relationships/slide" Target="slides/slide182.xml" /><Relationship Id="rId184" Type="http://schemas.openxmlformats.org/officeDocument/2006/relationships/slide" Target="slides/slide183.xml" /><Relationship Id="rId185" Type="http://schemas.openxmlformats.org/officeDocument/2006/relationships/slide" Target="slides/slide184.xml" /><Relationship Id="rId186" Type="http://schemas.openxmlformats.org/officeDocument/2006/relationships/slide" Target="slides/slide185.xml" /><Relationship Id="rId187" Type="http://schemas.openxmlformats.org/officeDocument/2006/relationships/slide" Target="slides/slide186.xml" /><Relationship Id="rId188" Type="http://schemas.openxmlformats.org/officeDocument/2006/relationships/slide" Target="slides/slide187.xml" /><Relationship Id="rId189" Type="http://schemas.openxmlformats.org/officeDocument/2006/relationships/slide" Target="slides/slide188.xml" /><Relationship Id="rId190" Type="http://schemas.openxmlformats.org/officeDocument/2006/relationships/slide" Target="slides/slide189.xml" /><Relationship Id="rId191" Type="http://schemas.openxmlformats.org/officeDocument/2006/relationships/slide" Target="slides/slide190.xml" /><Relationship Id="rId193" Type="http://schemas.openxmlformats.org/officeDocument/2006/relationships/viewProps" Target="viewProps.xml" /><Relationship Id="rId19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5" Type="http://schemas.openxmlformats.org/officeDocument/2006/relationships/tableStyles" Target="tableStyles.xml" /><Relationship Id="rId19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Adatbázisok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Bevezetés az adatbázisok világába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 az adatbázis?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Definíció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Adatbázis</a:t>
            </a:r>
            <a:r>
              <a:rPr/>
              <a:t>: Strukturált adatok szervezett gyűjteménye</a:t>
            </a:r>
          </a:p>
          <a:p>
            <a:pPr lvl="0"/>
            <a:r>
              <a:rPr/>
              <a:t>Célja: adatok hatékony tárolása, kezelése és lekérdezése</a:t>
            </a:r>
          </a:p>
          <a:p>
            <a:pPr lvl="0"/>
            <a:r>
              <a:rPr/>
              <a:t>Mindennapi életünk része: iskolai rendszerek, közösségi média, online vásárlás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Miért van rá szükségünk?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📊 Nagy mennyiségű adat tárolása</a:t>
            </a:r>
          </a:p>
          <a:p>
            <a:pPr lvl="0"/>
            <a:r>
              <a:rPr/>
              <a:t>🔍 Gyors keresés és visszakeresés</a:t>
            </a:r>
          </a:p>
          <a:p>
            <a:pPr lvl="0"/>
            <a:r>
              <a:rPr/>
              <a:t>🔒 Biztonságos adatkezelés</a:t>
            </a:r>
          </a:p>
          <a:p>
            <a:pPr lvl="0"/>
            <a:r>
              <a:rPr/>
              <a:t>👥 Többfelhasználós hozzáférés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Adatbázis vs. Hagyományos fájlok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Fájlok problémái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❌ Nehéz adatfrissítés</a:t>
            </a:r>
          </a:p>
          <a:p>
            <a:pPr lvl="0"/>
            <a:r>
              <a:rPr/>
              <a:t>❌ Adatismétlődés (redundancia)</a:t>
            </a:r>
          </a:p>
          <a:p>
            <a:pPr lvl="0"/>
            <a:r>
              <a:rPr/>
              <a:t>❌ Nehéz keresés</a:t>
            </a:r>
          </a:p>
          <a:p>
            <a:pPr lvl="0"/>
            <a:r>
              <a:rPr/>
              <a:t>❌ Biztonsági problémák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Adatbázis előnyei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Központosított adatkezelés</a:t>
            </a:r>
          </a:p>
          <a:p>
            <a:pPr lvl="0"/>
            <a:r>
              <a:rPr/>
              <a:t>✅ Adatintegritás</a:t>
            </a:r>
          </a:p>
          <a:p>
            <a:pPr lvl="0"/>
            <a:r>
              <a:rPr/>
              <a:t>✅ Gyors lekérdezések</a:t>
            </a:r>
          </a:p>
          <a:p>
            <a:pPr lvl="0"/>
            <a:r>
              <a:rPr/>
              <a:t>✅ Jogosultságkezelés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Adatbázis-kezelő rendszerek (DBMS)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az a 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Database Management System</a:t>
            </a:r>
            <a:r>
              <a:rPr/>
              <a:t> olyan szoftver, amely lehetővé teszi:</a:t>
            </a:r>
          </a:p>
          <a:p>
            <a:pPr lvl="0"/>
            <a:r>
              <a:rPr/>
              <a:t>Adatbázis létrehozását</a:t>
            </a:r>
          </a:p>
          <a:p>
            <a:pPr lvl="0"/>
            <a:r>
              <a:rPr/>
              <a:t>Adatok tárolását és módosítását</a:t>
            </a:r>
          </a:p>
          <a:p>
            <a:pPr lvl="0"/>
            <a:r>
              <a:rPr/>
              <a:t>Adatok lekérdezését</a:t>
            </a:r>
          </a:p>
          <a:p>
            <a:pPr lvl="0"/>
            <a:r>
              <a:rPr/>
              <a:t>Biztonság és hozzáférés kezelését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Népszerű DBMS-ek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Microsoft Access</a:t>
            </a:r>
            <a:r>
              <a:rPr/>
              <a:t> - asztali alkalmazásokhoz, oktatáshoz</a:t>
            </a:r>
          </a:p>
          <a:p>
            <a:pPr lvl="0"/>
            <a:r>
              <a:rPr b="1"/>
              <a:t>MySQL</a:t>
            </a:r>
            <a:r>
              <a:rPr/>
              <a:t> - nyílt forráskódú, webalkalmazásokhoz</a:t>
            </a:r>
          </a:p>
          <a:p>
            <a:pPr lvl="0"/>
            <a:r>
              <a:rPr b="1"/>
              <a:t>PostgreSQL</a:t>
            </a:r>
            <a:r>
              <a:rPr/>
              <a:t> - fejlett, nyílt forráskódú</a:t>
            </a:r>
          </a:p>
          <a:p>
            <a:pPr lvl="0"/>
            <a:r>
              <a:rPr b="1"/>
              <a:t>Microsoft SQL Server</a:t>
            </a:r>
            <a:r>
              <a:rPr/>
              <a:t> - vállalati környezethez</a:t>
            </a:r>
          </a:p>
          <a:p>
            <a:pPr lvl="0"/>
            <a:r>
              <a:rPr b="1"/>
              <a:t>Oracle</a:t>
            </a:r>
            <a:r>
              <a:rPr/>
              <a:t> - nagy vállalatok választása</a:t>
            </a:r>
          </a:p>
          <a:p>
            <a:pPr lvl="0"/>
            <a:r>
              <a:rPr b="1"/>
              <a:t>SQLite</a:t>
            </a:r>
            <a:r>
              <a:rPr/>
              <a:t> - beágyazott rendszerekhez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Microsoft Access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az Access?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Microsoft Office</a:t>
            </a:r>
            <a:r>
              <a:rPr/>
              <a:t> csomag része</a:t>
            </a:r>
          </a:p>
          <a:p>
            <a:pPr lvl="0"/>
            <a:r>
              <a:rPr/>
              <a:t>Asztali adatbázis-kezelő rendszer</a:t>
            </a:r>
          </a:p>
          <a:p>
            <a:pPr lvl="0"/>
            <a:r>
              <a:rPr/>
              <a:t>Vizuális, felhasználóbarát felület</a:t>
            </a:r>
          </a:p>
          <a:p>
            <a:pPr lvl="0"/>
            <a:r>
              <a:rPr/>
              <a:t>Ideális </a:t>
            </a:r>
            <a:r>
              <a:rPr b="1"/>
              <a:t>tanuláshoz</a:t>
            </a:r>
            <a:r>
              <a:rPr/>
              <a:t> és kis-közepes projektekhez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Főbb komponensek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📊 </a:t>
            </a:r>
            <a:r>
              <a:rPr b="1"/>
              <a:t>Táblák</a:t>
            </a:r>
            <a:r>
              <a:rPr/>
              <a:t> - adatok tárolása</a:t>
            </a:r>
          </a:p>
          <a:p>
            <a:pPr lvl="0"/>
            <a:r>
              <a:rPr/>
              <a:t>🔍 </a:t>
            </a:r>
            <a:r>
              <a:rPr b="1"/>
              <a:t>Lekérdezések</a:t>
            </a:r>
            <a:r>
              <a:rPr/>
              <a:t> - adatok szűrése, rendezése</a:t>
            </a:r>
          </a:p>
          <a:p>
            <a:pPr lvl="0"/>
            <a:r>
              <a:rPr/>
              <a:t>📝 </a:t>
            </a:r>
            <a:r>
              <a:rPr b="1"/>
              <a:t>Űrlapok</a:t>
            </a:r>
            <a:r>
              <a:rPr/>
              <a:t> - adatbevitel, szerkesztés</a:t>
            </a:r>
          </a:p>
          <a:p>
            <a:pPr lvl="0"/>
            <a:r>
              <a:rPr/>
              <a:t>📄 </a:t>
            </a:r>
            <a:r>
              <a:rPr b="1"/>
              <a:t>Jelentések</a:t>
            </a:r>
            <a:r>
              <a:rPr/>
              <a:t> - nyomtatható kimutatások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Access előnyei tanuláshoz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Miért jó kezdőknek?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Vizuális tervezés</a:t>
            </a:r>
            <a:r>
              <a:rPr/>
              <a:t> - táblák, kapcsolatok grafikusan</a:t>
            </a:r>
            <a:br/>
            <a:r>
              <a:rPr/>
              <a:t>✅ </a:t>
            </a:r>
            <a:r>
              <a:rPr b="1"/>
              <a:t>Egyszerű használat</a:t>
            </a:r>
            <a:r>
              <a:rPr/>
              <a:t> - húzd-és-ejtsd felület</a:t>
            </a:r>
            <a:br/>
            <a:r>
              <a:rPr/>
              <a:t>✅ </a:t>
            </a:r>
            <a:r>
              <a:rPr b="1"/>
              <a:t>Integrált környezet</a:t>
            </a:r>
            <a:r>
              <a:rPr/>
              <a:t> - minden egy helyen</a:t>
            </a:r>
            <a:br/>
            <a:r>
              <a:rPr/>
              <a:t>✅ </a:t>
            </a:r>
            <a:r>
              <a:rPr b="1"/>
              <a:t>SQL és vizuális mód</a:t>
            </a:r>
            <a:r>
              <a:rPr/>
              <a:t> - mindkettőt lehet gyakorolni</a:t>
            </a:r>
            <a:br/>
            <a:r>
              <a:rPr/>
              <a:t>✅ </a:t>
            </a:r>
            <a:r>
              <a:rPr b="1"/>
              <a:t>Azonnali eredmény</a:t>
            </a:r>
            <a:r>
              <a:rPr/>
              <a:t> - gyorsan látható, ami készül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Korlátok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</a:t>
            </a:r>
            <a:r>
              <a:rPr b="1"/>
              <a:t>Kapacitás</a:t>
            </a:r>
            <a:r>
              <a:rPr/>
              <a:t> - max 2GB adatbázis méret</a:t>
            </a:r>
            <a:br/>
            <a:r>
              <a:rPr/>
              <a:t>❌ </a:t>
            </a:r>
            <a:r>
              <a:rPr b="1"/>
              <a:t>Egyidejű felhasználók</a:t>
            </a:r>
            <a:r>
              <a:rPr/>
              <a:t> - körülbelül 10-20 fő</a:t>
            </a:r>
            <a:br/>
            <a:r>
              <a:rPr/>
              <a:t>❌ </a:t>
            </a:r>
            <a:r>
              <a:rPr b="1"/>
              <a:t>Platform</a:t>
            </a:r>
            <a:r>
              <a:rPr/>
              <a:t> - csak Windows rendszeren</a:t>
            </a:r>
            <a:br/>
            <a:r>
              <a:rPr/>
              <a:t>❌ </a:t>
            </a:r>
            <a:r>
              <a:rPr b="1"/>
              <a:t>Web alkalmazások</a:t>
            </a:r>
            <a:r>
              <a:rPr/>
              <a:t> - nehezebb integrálni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Access vs. Más DBMS-ek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 (Tanuláshoz, kis projektek)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🎓 Iskolai projektek, vizsgamunkák</a:t>
            </a:r>
          </a:p>
          <a:p>
            <a:pPr lvl="0"/>
            <a:r>
              <a:rPr/>
              <a:t>📊 Kis vállalkozások nyilvántartásai</a:t>
            </a:r>
          </a:p>
          <a:p>
            <a:pPr lvl="0"/>
            <a:r>
              <a:rPr/>
              <a:t>🏠 Házi adatbázisok (könyvtár, filmgyűjtemény)</a:t>
            </a:r>
          </a:p>
          <a:p>
            <a:pPr lvl="0"/>
            <a:r>
              <a:rPr/>
              <a:t>👨‍🎓 Diákok első adatbázis-projekt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MySQL/PostgreSQL (Webfejlesztés)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🌐 Weboldalak, webalkalmazások</a:t>
            </a:r>
          </a:p>
          <a:p>
            <a:pPr lvl="0"/>
            <a:r>
              <a:rPr/>
              <a:t>📱 Mobilalkalmazások háttere</a:t>
            </a:r>
          </a:p>
          <a:p>
            <a:pPr lvl="0"/>
            <a:r>
              <a:rPr/>
              <a:t>🔄 Nagy forgalmú rendszerek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Server/Oracle (Nagyvállalati)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🏢 Bankok, biztosítók</a:t>
            </a:r>
          </a:p>
          <a:p>
            <a:pPr lvl="0"/>
            <a:r>
              <a:rPr/>
              <a:t>🏥 Kórházak, kormányzati rendszerek</a:t>
            </a:r>
          </a:p>
          <a:p>
            <a:pPr lvl="0"/>
            <a:r>
              <a:rPr/>
              <a:t>💼 Nemzetközi vállalatok ERP rendszerei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Access használata órán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 fogunk csinálni?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Táblák létrehozása</a:t>
            </a:r>
            <a:r>
              <a:rPr/>
              <a:t> - vizuális tervezővel</a:t>
            </a:r>
          </a:p>
          <a:p>
            <a:pPr lvl="0" indent="-342900" marL="342900">
              <a:buAutoNum type="arabicPeriod"/>
            </a:pPr>
            <a:r>
              <a:rPr b="1"/>
              <a:t>Kapcsolatok definiálása</a:t>
            </a:r>
            <a:r>
              <a:rPr/>
              <a:t> - kapcsolatok nézet</a:t>
            </a:r>
          </a:p>
          <a:p>
            <a:pPr lvl="0" indent="-342900" marL="342900">
              <a:buAutoNum type="arabicPeriod"/>
            </a:pPr>
            <a:r>
              <a:rPr b="1"/>
              <a:t>Adatok bevitele</a:t>
            </a:r>
            <a:r>
              <a:rPr/>
              <a:t> - űrlapok készítése</a:t>
            </a:r>
          </a:p>
          <a:p>
            <a:pPr lvl="0" indent="-342900" marL="342900">
              <a:buAutoNum type="arabicPeriod"/>
            </a:pPr>
            <a:r>
              <a:rPr b="1"/>
              <a:t>Lekérdezések</a:t>
            </a:r>
            <a:r>
              <a:rPr/>
              <a:t> - SQL és vizuális lekérdezéstervező</a:t>
            </a:r>
          </a:p>
          <a:p>
            <a:pPr lvl="0" indent="-342900" marL="342900">
              <a:buAutoNum type="arabicPeriod"/>
            </a:pPr>
            <a:r>
              <a:rPr b="1"/>
              <a:t>Jelentések</a:t>
            </a:r>
            <a:r>
              <a:rPr/>
              <a:t> - szép kimutatások készítése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Gyakorlati projektek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📚 Iskolai könyvtár nyilvántartás</a:t>
            </a:r>
          </a:p>
          <a:p>
            <a:pPr lvl="0"/>
            <a:r>
              <a:rPr/>
              <a:t>🎬 Film/sorozat adatbázis</a:t>
            </a:r>
          </a:p>
          <a:p>
            <a:pPr lvl="0"/>
            <a:r>
              <a:rPr/>
              <a:t>🎮 Játékgyűjtemény</a:t>
            </a:r>
          </a:p>
          <a:p>
            <a:pPr lvl="0"/>
            <a:r>
              <a:rPr/>
              <a:t>👥 Diák/tanár adatbázis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Relációs adatbázisok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Alapfogalmak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Tábla (Table)</a:t>
            </a:r>
            <a:r>
              <a:rPr/>
              <a:t>: adatok tárolására szolgáló struktúra</a:t>
            </a:r>
          </a:p>
          <a:p>
            <a:pPr lvl="0"/>
            <a:r>
              <a:rPr b="1"/>
              <a:t>Sor (Record/Tuple)</a:t>
            </a:r>
            <a:r>
              <a:rPr/>
              <a:t>: egy adatrekord</a:t>
            </a:r>
          </a:p>
          <a:p>
            <a:pPr lvl="0"/>
            <a:r>
              <a:rPr b="1"/>
              <a:t>Oszlop (Column/Attribute)</a:t>
            </a:r>
            <a:r>
              <a:rPr/>
              <a:t>: egy tulajdonság</a:t>
            </a:r>
          </a:p>
          <a:p>
            <a:pPr lvl="0"/>
            <a:r>
              <a:rPr b="1"/>
              <a:t>Mező (Field)</a:t>
            </a:r>
            <a:r>
              <a:rPr/>
              <a:t>: egy konkrét adat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Példa: Diákok táblája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Diák_ID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Név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Osztály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Születési_év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Nagy Péter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Tóth Eszter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Kulcsok az adatbázisban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Elsődleges kulcs (Primary Key)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Egyedileg azonosít minden rekordot</a:t>
            </a:r>
          </a:p>
          <a:p>
            <a:pPr lvl="0"/>
            <a:r>
              <a:rPr/>
              <a:t>Nem lehet NULL (üres)</a:t>
            </a:r>
          </a:p>
          <a:p>
            <a:pPr lvl="0"/>
            <a:r>
              <a:rPr/>
              <a:t>Nem ismétlődhet</a:t>
            </a:r>
          </a:p>
          <a:p>
            <a:pPr lvl="0"/>
            <a:r>
              <a:rPr/>
              <a:t>Példa: Diák_ID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Idegen kulcs (Foreign Key)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Kapcsolatot teremt két tábla között</a:t>
            </a:r>
          </a:p>
          <a:p>
            <a:pPr lvl="0"/>
            <a:r>
              <a:rPr/>
              <a:t>Egy tábla elsődleges kulcsára hivatkozik</a:t>
            </a:r>
          </a:p>
          <a:p>
            <a:pPr lvl="0"/>
            <a:r>
              <a:rPr/>
              <a:t>Biztosítja az adatok konzisztenciáját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Összetett kulcs (Composite Key)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az összetett kulcs?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Több oszlop együtt</a:t>
            </a:r>
            <a:r>
              <a:rPr/>
              <a:t> alkotja az elsődleges kulcsot</a:t>
            </a:r>
          </a:p>
          <a:p>
            <a:pPr lvl="0"/>
            <a:r>
              <a:rPr/>
              <a:t>Egyenként ismétlődhetnek, de </a:t>
            </a:r>
            <a:r>
              <a:rPr b="1"/>
              <a:t>együtt egyediek</a:t>
            </a:r>
          </a:p>
          <a:p>
            <a:pPr lvl="0"/>
            <a:r>
              <a:rPr/>
              <a:t>Gyakran kapcsolótáblákban használatos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Példa: Diákok és Tantárgyak kapcsolótábla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Diaktantargy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Tantargy_ID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Datum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2024-10-15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2024-10-20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2024-10-16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Elsődleges kulcs:</a:t>
            </a:r>
            <a:r>
              <a:rPr/>
              <a:t> (Diak_ID + Tantargy_ID)</a:t>
            </a:r>
          </a:p>
          <a:p>
            <a:pPr lvl="0"/>
            <a:r>
              <a:rPr/>
              <a:t>Egy diák többször szerepelhet (különböző tantárgyakkal)</a:t>
            </a:r>
          </a:p>
          <a:p>
            <a:pPr lvl="0"/>
            <a:r>
              <a:rPr/>
              <a:t>Egy tantárgy többször szerepelhet (különböző diákokkal)</a:t>
            </a:r>
          </a:p>
          <a:p>
            <a:pPr lvl="0"/>
            <a:r>
              <a:rPr/>
              <a:t>De egy diák + egy tantárgy kombináció </a:t>
            </a:r>
            <a:r>
              <a:rPr b="1"/>
              <a:t>csak egyszer</a:t>
            </a:r>
            <a:r>
              <a:rPr/>
              <a:t> szerepelhet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Összetett kulcs példa SQL-ben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Tábla létrehozása összetett kulccsal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MS Access / SQL általános szintaxis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Diaktantargy (</a:t>
            </a:r>
            <a:br/>
            <a:r>
              <a:rPr>
                <a:latin typeface="Courier"/>
              </a:rPr>
              <a:t>    Diak_ID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Tantargy_ID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Jegy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Datum </a:t>
            </a:r>
            <a:r>
              <a:rPr>
                <a:solidFill>
                  <a:srgbClr val="902000"/>
                </a:solidFill>
                <a:latin typeface="Courier"/>
              </a:rPr>
              <a:t>DATE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 (Diak_ID, Tantargy_ID)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Mikor használjuk?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Több-több kapcsolatok</a:t>
            </a:r>
            <a:r>
              <a:rPr/>
              <a:t> megvalósítása (diák-tantárgy, termék-rendelés)</a:t>
            </a:r>
            <a:br/>
            <a:r>
              <a:rPr/>
              <a:t>✅ </a:t>
            </a:r>
            <a:r>
              <a:rPr b="1"/>
              <a:t>Egyediség biztosítása</a:t>
            </a:r>
            <a:r>
              <a:rPr/>
              <a:t> több oszlop alapján</a:t>
            </a:r>
            <a:br/>
            <a:r>
              <a:rPr/>
              <a:t>✅ </a:t>
            </a:r>
            <a:r>
              <a:rPr b="1"/>
              <a:t>Természetes kulcs</a:t>
            </a:r>
            <a:r>
              <a:rPr/>
              <a:t> amikor nincs egyedi azonosító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Miért kerülik sokan?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Bonyolultabb lekérdezések</a:t>
            </a:r>
            <a:br/>
            <a:r>
              <a:rPr/>
              <a:t>❌ Több tárhely az idegen kulcs hivatkozásokban</a:t>
            </a:r>
            <a:br/>
            <a:r>
              <a:rPr/>
              <a:t>❌ Nehezebb módosítani</a:t>
            </a:r>
          </a:p>
          <a:p>
            <a:pPr lvl="0" indent="0" marL="0">
              <a:buNone/>
            </a:pPr>
            <a:r>
              <a:rPr b="1"/>
              <a:t>Alternatíva:</a:t>
            </a:r>
            <a:r>
              <a:rPr/>
              <a:t> Külön AutoNumber/ID mező + UNIQUE constraint a két oszlopra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Táblák közötti kapcsolatok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Egy-egy kapcsolat (1:1)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Egy rekord pontosan egy másik rekordhoz kapcsolódik</a:t>
            </a:r>
          </a:p>
          <a:p>
            <a:pPr lvl="0"/>
            <a:r>
              <a:rPr/>
              <a:t>Példa: Egy diáknak egy tankártyája van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Egy-több kapcsolat (1:N)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Egy rekord több másik rekordhoz kapcsolódik</a:t>
            </a:r>
          </a:p>
          <a:p>
            <a:pPr lvl="0"/>
            <a:r>
              <a:rPr/>
              <a:t>Példa: Egy tanár több diákot tanít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Több-több kapcsolat (N:M)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Több rekord több másik rekordhoz kapcsolódik</a:t>
            </a:r>
          </a:p>
          <a:p>
            <a:pPr lvl="0"/>
            <a:r>
              <a:rPr/>
              <a:t>Példa: Diákok és tantárgyak (egy diák több tantárgyat tanul, egy tantárgyat több diák tanul)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SQL - Structured Query Language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az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Standard nyelv az adatbázisok kezeléséhez</a:t>
            </a:r>
          </a:p>
          <a:p>
            <a:pPr lvl="0"/>
            <a:r>
              <a:rPr/>
              <a:t>Könnyen tanulható, angol nyelvű parancsok</a:t>
            </a:r>
          </a:p>
          <a:p>
            <a:pPr lvl="0"/>
            <a:r>
              <a:rPr/>
              <a:t>Használható minden relációs adatbázisban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főbb kategoriák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DDL</a:t>
            </a:r>
            <a:r>
              <a:rPr/>
              <a:t> (Data Definition Language) - szerkezet definiálása</a:t>
            </a:r>
          </a:p>
          <a:p>
            <a:pPr lvl="0" indent="-342900" marL="342900">
              <a:buAutoNum type="arabicPeriod"/>
            </a:pPr>
            <a:r>
              <a:rPr b="1"/>
              <a:t>DML</a:t>
            </a:r>
            <a:r>
              <a:rPr/>
              <a:t> (Data Manipulation Language) - adatok kezelése</a:t>
            </a:r>
          </a:p>
          <a:p>
            <a:pPr lvl="0" indent="-342900" marL="342900">
              <a:buAutoNum type="arabicPeriod"/>
            </a:pPr>
            <a:r>
              <a:rPr b="1"/>
              <a:t>DQL</a:t>
            </a:r>
            <a:r>
              <a:rPr/>
              <a:t> (Data Query Language) - adatok lekérdezése</a:t>
            </a:r>
          </a:p>
          <a:p>
            <a:pPr lvl="0" indent="-342900" marL="342900">
              <a:buAutoNum type="arabicPeriod"/>
            </a:pPr>
            <a:r>
              <a:rPr b="1"/>
              <a:t>DCL</a:t>
            </a:r>
            <a:r>
              <a:rPr/>
              <a:t> (Data Control Language) - jogosultságok kezelése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SQL dialektusok - Fontos különbségek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az SQL dialektus?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Az SQL </a:t>
            </a:r>
            <a:r>
              <a:rPr b="1"/>
              <a:t>szabvány</a:t>
            </a:r>
            <a:r>
              <a:rPr/>
              <a:t>, de minden DBMS kissé </a:t>
            </a:r>
            <a:r>
              <a:rPr b="1"/>
              <a:t>másképp</a:t>
            </a:r>
            <a:r>
              <a:rPr/>
              <a:t> implementálja</a:t>
            </a:r>
          </a:p>
          <a:p>
            <a:pPr lvl="0"/>
            <a:r>
              <a:rPr/>
              <a:t>Alapműveletek (SELECT, INSERT, UPDATE, DELETE) </a:t>
            </a:r>
            <a:r>
              <a:rPr b="1"/>
              <a:t>mindenütt ugyanúgy</a:t>
            </a:r>
            <a:r>
              <a:rPr/>
              <a:t> működnek</a:t>
            </a:r>
          </a:p>
          <a:p>
            <a:pPr lvl="0"/>
            <a:r>
              <a:rPr b="1"/>
              <a:t>Speciális funkciók</a:t>
            </a:r>
            <a:r>
              <a:rPr/>
              <a:t> eltérhetnek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Gyakori eltérések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930400"/>
                <a:gridCol w="2628900"/>
                <a:gridCol w="2095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Funkció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MS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MySQL/MariaDB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PostgreSQL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Első N rekord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TOP 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LIMIT 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LIMIT 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Automatikus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AutoNumber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AUTO_INCREMENT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SERIAL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Dátum formátum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#2024-12-06#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'2024-12-06'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'2024-12-06'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Helyettesítő karakter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*</a:t>
                      </a:r>
                      <a:r>
                        <a:rPr/>
                        <a:t> (szövegben)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String összefűzés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&amp;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CONCAT()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\|\|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TOP vs LIMIT - Első N rekord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MS Access (TOP)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Első 5 diák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TOP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Nev;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Első 3 legjobb átlag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TOP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Nev,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MySQL/PostgreSQL (LIMIT)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Első 5 diák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Első 3 legjobb átlag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Nev,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Mindkettő ugyanazt csinálja, csak más szintaxissal!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További Access-specifikus jellemzők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Helyettesítő karakterek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Access: * és ?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Nev </a:t>
            </a:r>
            <a:r>
              <a:rPr b="1">
                <a:solidFill>
                  <a:srgbClr val="007020"/>
                </a:solidFill>
                <a:latin typeface="Courier"/>
              </a:rPr>
              <a:t>LIKE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'Kiss*'</a:t>
            </a:r>
            <a:r>
              <a:rPr>
                <a:latin typeface="Courier"/>
              </a:rPr>
              <a:t>;  </a:t>
            </a:r>
            <a:r>
              <a:rPr i="1">
                <a:solidFill>
                  <a:srgbClr val="60A0B0"/>
                </a:solidFill>
                <a:latin typeface="Courier"/>
              </a:rPr>
              <a:t>-- bármi Kiss után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Nev </a:t>
            </a:r>
            <a:r>
              <a:rPr b="1">
                <a:solidFill>
                  <a:srgbClr val="007020"/>
                </a:solidFill>
                <a:latin typeface="Courier"/>
              </a:rPr>
              <a:t>LIKE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'An?a'</a:t>
            </a:r>
            <a:r>
              <a:rPr>
                <a:latin typeface="Courier"/>
              </a:rPr>
              <a:t>;   </a:t>
            </a:r>
            <a:r>
              <a:rPr i="1">
                <a:solidFill>
                  <a:srgbClr val="60A0B0"/>
                </a:solidFill>
                <a:latin typeface="Courier"/>
              </a:rPr>
              <a:t>-- pontosan 1 karakter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MySQL/PostgreSQL: % és 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Nev </a:t>
            </a:r>
            <a:r>
              <a:rPr b="1">
                <a:solidFill>
                  <a:srgbClr val="007020"/>
                </a:solidFill>
                <a:latin typeface="Courier"/>
              </a:rPr>
              <a:t>LIKE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'Kiss%'</a:t>
            </a:r>
            <a:r>
              <a:rPr>
                <a:latin typeface="Courier"/>
              </a:rPr>
              <a:t>;  </a:t>
            </a:r>
            <a:r>
              <a:rPr i="1">
                <a:solidFill>
                  <a:srgbClr val="60A0B0"/>
                </a:solidFill>
                <a:latin typeface="Courier"/>
              </a:rPr>
              <a:t>-- bármi Kiss után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Nev </a:t>
            </a:r>
            <a:r>
              <a:rPr b="1">
                <a:solidFill>
                  <a:srgbClr val="007020"/>
                </a:solidFill>
                <a:latin typeface="Courier"/>
              </a:rPr>
              <a:t>LIKE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'An_a'</a:t>
            </a:r>
            <a:r>
              <a:rPr>
                <a:latin typeface="Courier"/>
              </a:rPr>
              <a:t>;   </a:t>
            </a:r>
            <a:r>
              <a:rPr i="1">
                <a:solidFill>
                  <a:srgbClr val="60A0B0"/>
                </a:solidFill>
                <a:latin typeface="Courier"/>
              </a:rPr>
              <a:t>-- pontosan 1 karakter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Dátumok kezelése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Access: # jelek között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Szuletesi_datum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#</a:t>
            </a:r>
            <a:r>
              <a:rPr>
                <a:solidFill>
                  <a:srgbClr val="40A070"/>
                </a:solidFill>
                <a:latin typeface="Courier"/>
              </a:rPr>
              <a:t>2009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05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#;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MySQL/PostgreSQL: idézőjelek között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Szuletesi_datum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'2009-05-15'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String összefűzés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Access: &amp; operátor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Vezeteknev &amp; </a:t>
            </a:r>
            <a:r>
              <a:rPr>
                <a:solidFill>
                  <a:srgbClr val="4070A0"/>
                </a:solidFill>
                <a:latin typeface="Courier"/>
              </a:rPr>
              <a:t>' '</a:t>
            </a:r>
            <a:r>
              <a:rPr>
                <a:latin typeface="Courier"/>
              </a:rPr>
              <a:t> &amp; Keresztnev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Teljes_nev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MySQL: CONCAT() függvény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CONCAT</a:t>
            </a:r>
            <a:r>
              <a:rPr>
                <a:latin typeface="Courier"/>
              </a:rPr>
              <a:t>(Vezeteknev, </a:t>
            </a:r>
            <a:r>
              <a:rPr>
                <a:solidFill>
                  <a:srgbClr val="4070A0"/>
                </a:solidFill>
                <a:latin typeface="Courier"/>
              </a:rPr>
              <a:t>' '</a:t>
            </a:r>
            <a:r>
              <a:rPr>
                <a:latin typeface="Courier"/>
              </a:rPr>
              <a:t>, Keresztnev)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Teljes_nev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CRUD műveletek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 CRUD?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CRUD az adatbázis-kezelés </a:t>
            </a:r>
            <a:r>
              <a:rPr b="1"/>
              <a:t>4 alapműveletét</a:t>
            </a:r>
            <a:r>
              <a:rPr/>
              <a:t> jelenti:</a:t>
            </a:r>
          </a:p>
          <a:p>
            <a:pPr lvl="0"/>
            <a:r>
              <a:rPr b="1"/>
              <a:t>C</a:t>
            </a:r>
            <a:r>
              <a:rPr/>
              <a:t>reate (Létrehozás) → </a:t>
            </a:r>
            <a:r>
              <a:rPr>
                <a:latin typeface="Courier"/>
              </a:rPr>
              <a:t>INSERT</a:t>
            </a:r>
          </a:p>
          <a:p>
            <a:pPr lvl="0"/>
            <a:r>
              <a:rPr b="1"/>
              <a:t>R</a:t>
            </a:r>
            <a:r>
              <a:rPr/>
              <a:t>ead (Olvasás) → </a:t>
            </a:r>
            <a:r>
              <a:rPr>
                <a:latin typeface="Courier"/>
              </a:rPr>
              <a:t>SELECT</a:t>
            </a:r>
          </a:p>
          <a:p>
            <a:pPr lvl="0"/>
            <a:r>
              <a:rPr b="1"/>
              <a:t>U</a:t>
            </a:r>
            <a:r>
              <a:rPr/>
              <a:t>pdate (Módosítás) → </a:t>
            </a:r>
            <a:r>
              <a:rPr>
                <a:latin typeface="Courier"/>
              </a:rPr>
              <a:t>UPDATE</a:t>
            </a:r>
          </a:p>
          <a:p>
            <a:pPr lvl="0"/>
            <a:r>
              <a:rPr b="1"/>
              <a:t>D</a:t>
            </a:r>
            <a:r>
              <a:rPr/>
              <a:t>elete (Törlés) → </a:t>
            </a:r>
            <a:r>
              <a:rPr>
                <a:latin typeface="Courier"/>
              </a:rPr>
              <a:t>DELETE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Miért fontos?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Minden adatbázis-alkalmazás ezekre épül</a:t>
            </a:r>
          </a:p>
          <a:p>
            <a:pPr lvl="0"/>
            <a:r>
              <a:rPr/>
              <a:t>Az összes adatkezelési feladat e 4 műveletből áll</a:t>
            </a:r>
          </a:p>
          <a:p>
            <a:pPr lvl="0"/>
            <a:r>
              <a:rPr/>
              <a:t>Web és mobilalkalmazások alapja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SQL Alapműveletek - CREATE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Tábla létrehozása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Diakok (</a:t>
            </a:r>
            <a:br/>
            <a:r>
              <a:rPr>
                <a:latin typeface="Courier"/>
              </a:rPr>
              <a:t>    Diak_ID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Nev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Osztaly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Szuletesi_ev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br/>
            <a:r>
              <a:rPr>
                <a:latin typeface="Courier"/>
              </a:rPr>
              <a:t>);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 jelent ez?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Létrehozunk egy “Diakok” nevű táblát</a:t>
            </a:r>
          </a:p>
          <a:p>
            <a:pPr lvl="0"/>
            <a:r>
              <a:rPr/>
              <a:t>4 oszloppal: ID, Név, Osztály, Születési év</a:t>
            </a:r>
          </a:p>
          <a:p>
            <a:pPr lvl="0"/>
            <a:r>
              <a:rPr/>
              <a:t>Diak_ID lesz az elsődleges kulcs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SQL Alapműveletek - INSERT (Create)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Adatok beszúrása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INSERT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INTO</a:t>
            </a:r>
            <a:r>
              <a:rPr>
                <a:latin typeface="Courier"/>
              </a:rPr>
              <a:t> Diakok (Diak_ID, Nev, Osztaly, Szuletesi_ev)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VALUES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'Kiss Anna'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'10.A'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2009</a:t>
            </a:r>
            <a:r>
              <a:rPr>
                <a:latin typeface="Courier"/>
              </a:rPr>
              <a:t>);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Több rekord egyszerre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INSERT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INTO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VALUES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'Nagy Péter'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'10.B'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2010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'Tóth Eszter'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'11.A'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2008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'Szabó Máté'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'10.A'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2009</a:t>
            </a:r>
            <a:r>
              <a:rPr>
                <a:latin typeface="Courier"/>
              </a:rPr>
              <a:t>);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SQL Alapműveletek - SELECT (Read)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Összes adat lekérdezése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Specifikus oszlopok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Nev, Osztaly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Szűrés feltétellel (WHERE)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Osztaly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'10.A'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Rendezés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Nev;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ORDER BY - Rendezés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Mire jó?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Eredmények </a:t>
            </a:r>
            <a:r>
              <a:rPr b="1"/>
              <a:t>sorba rendezése</a:t>
            </a:r>
            <a:r>
              <a:rPr/>
              <a:t> egy vagy több oszlop alapján</a:t>
            </a:r>
          </a:p>
          <a:p>
            <a:pPr lvl="0"/>
            <a:r>
              <a:rPr b="1"/>
              <a:t>Növekvő</a:t>
            </a:r>
            <a:r>
              <a:rPr/>
              <a:t> (ASC) vagy </a:t>
            </a:r>
            <a:r>
              <a:rPr b="1"/>
              <a:t>csökkenő</a:t>
            </a:r>
            <a:r>
              <a:rPr/>
              <a:t> (DESC) sorrend</a:t>
            </a:r>
          </a:p>
          <a:p>
            <a:pPr lvl="0"/>
            <a:r>
              <a:rPr/>
              <a:t>Áttekinthetőbb, rendezett eredmények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Alapszintaxis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tabla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oszlop [</a:t>
            </a:r>
            <a:r>
              <a:rPr b="1">
                <a:solidFill>
                  <a:srgbClr val="007020"/>
                </a:solidFill>
                <a:latin typeface="Courier"/>
              </a:rPr>
              <a:t>ASC</a:t>
            </a:r>
            <a:r>
              <a:rPr>
                <a:latin typeface="Courier"/>
              </a:rPr>
              <a:t>|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];</a:t>
            </a:r>
          </a:p>
          <a:p>
            <a:pPr lvl="0" indent="0" marL="0">
              <a:buNone/>
            </a:pPr>
            <a:r>
              <a:rPr b="1"/>
              <a:t>ASC</a:t>
            </a:r>
            <a:r>
              <a:rPr/>
              <a:t> = Ascending (növekvő) - </a:t>
            </a:r>
            <a:r>
              <a:rPr b="1"/>
              <a:t>alapértelmezett</a:t>
            </a:r>
            <a:br/>
            <a:r>
              <a:rPr b="1"/>
              <a:t>DESC</a:t>
            </a:r>
            <a:r>
              <a:rPr/>
              <a:t> = Descending (csökkenő)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ORDER BY példák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Nevek ABC sorrendben (növekvő)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Nev </a:t>
            </a:r>
            <a:r>
              <a:rPr b="1">
                <a:solidFill>
                  <a:srgbClr val="007020"/>
                </a:solidFill>
                <a:latin typeface="Courier"/>
              </a:rPr>
              <a:t>ASC</a:t>
            </a:r>
            <a:r>
              <a:rPr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 vagy egyszerűen: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Nev;</a:t>
            </a:r>
          </a:p>
          <a:p>
            <a:pPr lvl="0" indent="0" marL="0">
              <a:buNone/>
            </a:pPr>
            <a:r>
              <a:rPr b="1"/>
              <a:t>Eredmény: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Diák_ID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Név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Osztály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Születési_év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Nagy Péter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Szabó Máté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Tóth Eszter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ORDER BY több oszlop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Osztály szerint, azon belül név szerint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Osztaly </a:t>
            </a:r>
            <a:r>
              <a:rPr b="1">
                <a:solidFill>
                  <a:srgbClr val="007020"/>
                </a:solidFill>
                <a:latin typeface="Courier"/>
              </a:rPr>
              <a:t>ASC</a:t>
            </a:r>
            <a:r>
              <a:rPr>
                <a:latin typeface="Courier"/>
              </a:rPr>
              <a:t>, Nev </a:t>
            </a:r>
            <a:r>
              <a:rPr b="1">
                <a:solidFill>
                  <a:srgbClr val="007020"/>
                </a:solidFill>
                <a:latin typeface="Courier"/>
              </a:rPr>
              <a:t>ASC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Legfiatalabb diákok elöl (csökkenő születési év)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Nev, Osztaly, Szuletesi_ev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Szuletesi_ev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Eredmény: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Név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Osztály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Születési_év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Nagy Péter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Szabó Máté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Tóth Eszter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ORDER BY gyakorlati példák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 3 legjobb átlag (jegyek alapján)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MySQL/PostgreSQL szintaxis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Diak_ID, Nev,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Diakok.Diak_ID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Jegyek.Diak_ID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Diak_ID, 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MS Access szintaxis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TOP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Diak_ID, Nev,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Diakok.Diak_ID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Jegyek.Diak_ID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Diak_ID, 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Osztály és életkor szerinti rendezés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Nev, Osztaly, (</a:t>
            </a:r>
            <a:r>
              <a:rPr>
                <a:solidFill>
                  <a:srgbClr val="40A070"/>
                </a:solidFill>
                <a:latin typeface="Courier"/>
              </a:rPr>
              <a:t>2025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Szuletesi_ev)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Kor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Osztaly </a:t>
            </a:r>
            <a:r>
              <a:rPr b="1">
                <a:solidFill>
                  <a:srgbClr val="007020"/>
                </a:solidFill>
                <a:latin typeface="Courier"/>
              </a:rPr>
              <a:t>ASC</a:t>
            </a:r>
            <a:r>
              <a:rPr>
                <a:latin typeface="Courier"/>
              </a:rPr>
              <a:t>, Kor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Tipp:</a:t>
            </a:r>
            <a:r>
              <a:rPr/>
              <a:t> Kombinálhatod a WHERE, GROUP BY, ORDER BY záradékokat!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SQL Alapműveletek - UPDATE (Update)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Adatok módosítása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UPDATE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 Osztaly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'11.A'</a:t>
            </a:r>
            <a:r>
              <a:rPr>
                <a:latin typeface="Courier"/>
              </a:rPr>
              <a:t>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Figyelem!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Mindig használj WHERE feltételt!</a:t>
            </a:r>
          </a:p>
          <a:p>
            <a:pPr lvl="0"/>
            <a:r>
              <a:rPr/>
              <a:t>WHERE nélkül MINDEN rekord módosul!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VESZÉLYES! Minden diák osztályát megváltoztatja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UPDATE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 Osztaly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'12.A'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SQL Alapműveletek - DELETE (Delete)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Rekord törlése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DELETE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Vigyázat!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nélkül az ÖSSZES rekord törlődik!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VESZÉLYES! Kiüríti a teljes táblát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DELETE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Összetettebb lekérdezések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Szűrés több feltétellel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Osztaly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'10.A'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Szuletesi_ev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2009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Keresés mintára (LIKE)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Nev </a:t>
            </a:r>
            <a:r>
              <a:rPr b="1">
                <a:solidFill>
                  <a:srgbClr val="007020"/>
                </a:solidFill>
                <a:latin typeface="Courier"/>
              </a:rPr>
              <a:t>LIKE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'Kiss%'</a:t>
            </a:r>
            <a:r>
              <a:rPr>
                <a:latin typeface="Courier"/>
              </a:rPr>
              <a:t>;  </a:t>
            </a:r>
            <a:r>
              <a:rPr i="1">
                <a:solidFill>
                  <a:srgbClr val="60A0B0"/>
                </a:solidFill>
                <a:latin typeface="Courier"/>
              </a:rPr>
              <a:t>-- Név 'Kiss'-sel kezdődik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Számolás (COUNT, SUM, AVG)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Osztaly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'10.A'</a:t>
            </a:r>
            <a:r>
              <a:rPr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(Szuletesi_ev)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 BY - Csoportosítás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Mire jó?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Adatok </a:t>
            </a:r>
            <a:r>
              <a:rPr b="1"/>
              <a:t>csoportokba rendezése</a:t>
            </a:r>
            <a:r>
              <a:rPr/>
              <a:t> egy vagy több oszlop alapján</a:t>
            </a:r>
          </a:p>
          <a:p>
            <a:pPr lvl="0"/>
            <a:r>
              <a:rPr b="1"/>
              <a:t>Összesítő függvények</a:t>
            </a:r>
            <a:r>
              <a:rPr/>
              <a:t> használata csoportonként</a:t>
            </a:r>
          </a:p>
          <a:p>
            <a:pPr lvl="0"/>
            <a:r>
              <a:rPr/>
              <a:t>Statisztikák készítése kategóriánként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Alapszintaxis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oszlop, AGGREGÁLT_FÜGGVÉNY(oszlop)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tabla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oszlop;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 BY példák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Diákok száma osztályonként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Osztaly,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Letszam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Osztaly;</a:t>
            </a:r>
          </a:p>
          <a:p>
            <a:pPr lvl="0" indent="0" marL="0">
              <a:buNone/>
            </a:pPr>
            <a:r>
              <a:rPr b="1"/>
              <a:t>Eredmény: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Osztály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Létszám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Átlagéletkor osztályonként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Osztaly,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2025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Szuletesi_ev)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Atlageletkor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Osztaly;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 BY + HAVING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 különbség WHERE és HAVING között?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WHERE</a:t>
            </a:r>
            <a:r>
              <a:rPr/>
              <a:t>: szűrés csoportosítás </a:t>
            </a:r>
            <a:r>
              <a:rPr b="1"/>
              <a:t>ELŐTT</a:t>
            </a:r>
            <a:r>
              <a:rPr/>
              <a:t> (egyedi sorokra)</a:t>
            </a:r>
          </a:p>
          <a:p>
            <a:pPr lvl="0"/>
            <a:r>
              <a:rPr b="1"/>
              <a:t>HAVING</a:t>
            </a:r>
            <a:r>
              <a:rPr/>
              <a:t>: szűrés csoportosítás </a:t>
            </a:r>
            <a:r>
              <a:rPr b="1"/>
              <a:t>UTÁN</a:t>
            </a:r>
            <a:r>
              <a:rPr/>
              <a:t> (csoportokra)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Példa: Csak azok az osztályok, ahol több mint 1 diák van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Osztaly,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Letszam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Osztaly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Komplex példa jegyekkel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Diak_ID,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Jegyek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Összekapcsolások (JOIN)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Példa adatstruktúra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Diakok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Osztaly_ID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Osztalyok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Osztaly_ID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Osztaly_nev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Osztalyfonok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Nagy Béla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Összekapcsolás WHERE-rel (régi módszer)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Diakok.Nev, Osztalyok.Osztaly_nev, Osztalyok.Osztalyfonok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Diakok, Osztalyok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Diakok.Osztaly_ID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Osztalyok.Osztaly_ID;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INNER JOIN (modern módszer)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Diakok.Nev, Osztalyok.Osztaly_nev, Osztalyok.Osztalyfonok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Osztalyok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Diakok.Osztaly_ID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Osztalyok.Osztaly_ID;</a:t>
            </a:r>
          </a:p>
          <a:p>
            <a:pPr lvl="0" indent="0" marL="0">
              <a:buNone/>
            </a:pPr>
            <a:r>
              <a:rPr b="1"/>
              <a:t>Mindkettő ugyanazt az eredményt adja!</a:t>
            </a:r>
            <a:r>
              <a:rPr/>
              <a:t> Az INNER JOIN olvashatóbb és kifejezőbb.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Adatintegritás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 jelent?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Az adatok pontossága és konzisztenciája</a:t>
            </a:r>
          </a:p>
          <a:p>
            <a:pPr lvl="0"/>
            <a:r>
              <a:rPr/>
              <a:t>Hibás vagy ellentmondásos adatok megelőzése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Hogyan biztosítjuk?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NOT NULL</a:t>
            </a:r>
            <a:r>
              <a:rPr/>
              <a:t> - a mező nem lehet üres</a:t>
            </a:r>
          </a:p>
          <a:p>
            <a:pPr lvl="0" indent="-342900" marL="342900">
              <a:buAutoNum type="arabicPeriod"/>
            </a:pPr>
            <a:r>
              <a:rPr b="1"/>
              <a:t>UNIQUE</a:t>
            </a:r>
            <a:r>
              <a:rPr/>
              <a:t> - az érték nem ismétlődhet</a:t>
            </a:r>
          </a:p>
          <a:p>
            <a:pPr lvl="0" indent="-342900" marL="342900">
              <a:buAutoNum type="arabicPeriod"/>
            </a:pPr>
            <a:r>
              <a:rPr b="1"/>
              <a:t>PRIMARY KEY</a:t>
            </a:r>
            <a:r>
              <a:rPr/>
              <a:t> - egyedi azonosító</a:t>
            </a:r>
          </a:p>
          <a:p>
            <a:pPr lvl="0" indent="-342900" marL="342900">
              <a:buAutoNum type="arabicPeriod"/>
            </a:pPr>
            <a:r>
              <a:rPr b="1"/>
              <a:t>FOREIGN KEY</a:t>
            </a:r>
            <a:r>
              <a:rPr/>
              <a:t> - kapcsolatok érvényessége</a:t>
            </a:r>
          </a:p>
          <a:p>
            <a:pPr lvl="0" indent="-342900" marL="342900">
              <a:buAutoNum type="arabicPeriod"/>
            </a:pPr>
            <a:r>
              <a:rPr b="1"/>
              <a:t>CHECK</a:t>
            </a:r>
            <a:r>
              <a:rPr/>
              <a:t> - egyéni szabályok (pl. életkor &gt; 0)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NoSQL adatbázisok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 különbség?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Relációs</a:t>
            </a:r>
            <a:r>
              <a:rPr/>
              <a:t>: strukturált táblák, SQL nyelv</a:t>
            </a:r>
          </a:p>
          <a:p>
            <a:pPr lvl="0"/>
            <a:r>
              <a:rPr b="1"/>
              <a:t>NoSQL</a:t>
            </a:r>
            <a:r>
              <a:rPr/>
              <a:t>: rugalmas séma, különböző adatmodellek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 típusok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Dokumentum-alapú</a:t>
            </a:r>
            <a:r>
              <a:rPr/>
              <a:t>: MongoDB, CouchDB</a:t>
            </a:r>
          </a:p>
          <a:p>
            <a:pPr lvl="0" indent="-342900" marL="342900">
              <a:buAutoNum type="arabicPeriod"/>
            </a:pPr>
            <a:r>
              <a:rPr b="1"/>
              <a:t>Kulcs-érték</a:t>
            </a:r>
            <a:r>
              <a:rPr/>
              <a:t>: Redis, DynamoDB</a:t>
            </a:r>
          </a:p>
          <a:p>
            <a:pPr lvl="0" indent="-342900" marL="342900">
              <a:buAutoNum type="arabicPeriod"/>
            </a:pPr>
            <a:r>
              <a:rPr b="1"/>
              <a:t>Oszlop-alapú</a:t>
            </a:r>
            <a:r>
              <a:rPr/>
              <a:t>: Cassandra, HBase</a:t>
            </a:r>
          </a:p>
          <a:p>
            <a:pPr lvl="0" indent="-342900" marL="342900">
              <a:buAutoNum type="arabicPeriod"/>
            </a:pPr>
            <a:r>
              <a:rPr b="1"/>
              <a:t>Gráf</a:t>
            </a:r>
            <a:r>
              <a:rPr/>
              <a:t>: Neo4j, Amazon Neptune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Mikor használjuk?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Nagy mennyiségű, változatos adat</a:t>
            </a:r>
          </a:p>
          <a:p>
            <a:pPr lvl="0"/>
            <a:r>
              <a:rPr/>
              <a:t>Gyors skálázhatóság</a:t>
            </a:r>
          </a:p>
          <a:p>
            <a:pPr lvl="0"/>
            <a:r>
              <a:rPr/>
              <a:t>Rugalmas adatstruktúra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Adatbázis-tervezés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Lépések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Követelmények elemzése</a:t>
            </a:r>
            <a:r>
              <a:rPr/>
              <a:t> - Mit akarunk tárolni?</a:t>
            </a:r>
          </a:p>
          <a:p>
            <a:pPr lvl="0" indent="-342900" marL="342900">
              <a:buAutoNum type="arabicPeriod"/>
            </a:pPr>
            <a:r>
              <a:rPr b="1"/>
              <a:t>Konceptuális terv</a:t>
            </a:r>
            <a:r>
              <a:rPr/>
              <a:t> - Entitások és kapcsolatok</a:t>
            </a:r>
          </a:p>
          <a:p>
            <a:pPr lvl="0" indent="-342900" marL="342900">
              <a:buAutoNum type="arabicPeriod"/>
            </a:pPr>
            <a:r>
              <a:rPr b="1"/>
              <a:t>Logikai terv</a:t>
            </a:r>
            <a:r>
              <a:rPr/>
              <a:t> - Táblák és mezők meghatározása</a:t>
            </a:r>
          </a:p>
          <a:p>
            <a:pPr lvl="0" indent="-342900" marL="342900">
              <a:buAutoNum type="arabicPeriod"/>
            </a:pPr>
            <a:r>
              <a:rPr b="1"/>
              <a:t>Fizikai terv</a:t>
            </a:r>
            <a:r>
              <a:rPr/>
              <a:t> - Implementáció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Normalizálás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Adatismétlődés csökkentése</a:t>
            </a:r>
          </a:p>
          <a:p>
            <a:pPr lvl="0"/>
            <a:r>
              <a:rPr/>
              <a:t>Konzisztencia biztosítása</a:t>
            </a:r>
          </a:p>
          <a:p>
            <a:pPr lvl="0"/>
            <a:r>
              <a:rPr/>
              <a:t>Hatékonyabb tárolás</a:t>
            </a:r>
          </a:p>
          <a:p>
            <a:pPr lvl="0"/>
            <a:r>
              <a:rPr/>
              <a:t>1NF, 2NF, 3NF normálformák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Adatbázis-biztonság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Fő területek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Hitelesítés</a:t>
            </a:r>
            <a:r>
              <a:rPr/>
              <a:t> - Ki vagy? (felhasználónév, jelszó)</a:t>
            </a:r>
          </a:p>
          <a:p>
            <a:pPr lvl="0" indent="-342900" marL="342900">
              <a:buAutoNum type="arabicPeriod"/>
            </a:pPr>
            <a:r>
              <a:rPr b="1"/>
              <a:t>Jogosultságkezelés</a:t>
            </a:r>
            <a:r>
              <a:rPr/>
              <a:t> - Mit csinálhatsz?</a:t>
            </a:r>
          </a:p>
          <a:p>
            <a:pPr lvl="0" indent="-342900" marL="342900">
              <a:buAutoNum type="arabicPeriod"/>
            </a:pPr>
            <a:r>
              <a:rPr b="1"/>
              <a:t>Titkosítás</a:t>
            </a:r>
            <a:r>
              <a:rPr/>
              <a:t> - Adatok védelme</a:t>
            </a:r>
          </a:p>
          <a:p>
            <a:pPr lvl="0" indent="-342900" marL="342900">
              <a:buAutoNum type="arabicPeriod"/>
            </a:pPr>
            <a:r>
              <a:rPr b="1"/>
              <a:t>Biztonsági mentés</a:t>
            </a:r>
            <a:r>
              <a:rPr/>
              <a:t> - Adatvesztés megelőzése</a:t>
            </a:r>
          </a:p>
          <a:p>
            <a:pPr lvl="0" indent="-342900" marL="342900">
              <a:buAutoNum type="arabicPeriod"/>
            </a:pPr>
            <a:r>
              <a:rPr b="1"/>
              <a:t>Naplózás</a:t>
            </a:r>
            <a:r>
              <a:rPr/>
              <a:t> - Ki mit csinált?</a:t>
            </a:r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Alapelvek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Minimum jogosultság elve</a:t>
            </a:r>
          </a:p>
          <a:p>
            <a:pPr lvl="0"/>
            <a:r>
              <a:rPr/>
              <a:t>Erős jelszavak</a:t>
            </a:r>
          </a:p>
          <a:p>
            <a:pPr lvl="0"/>
            <a:r>
              <a:rPr/>
              <a:t>Rendszeres mentések</a:t>
            </a:r>
          </a:p>
          <a:p>
            <a:pPr lvl="0"/>
            <a:r>
              <a:rPr/>
              <a:t>Frissítések telepítése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Tranzakciók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az a tranzakció?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Több művelet egyetlen egységként</a:t>
            </a:r>
          </a:p>
          <a:p>
            <a:pPr lvl="0"/>
            <a:r>
              <a:rPr/>
              <a:t>Vagy minden végrehajtódik, vagy semmi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ACID tulajdonságok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</a:t>
            </a:r>
            <a:r>
              <a:rPr/>
              <a:t>tomicity (Atomicitás) - Oszthatatlan egység</a:t>
            </a:r>
          </a:p>
          <a:p>
            <a:pPr lvl="0"/>
            <a:r>
              <a:rPr b="1"/>
              <a:t>C</a:t>
            </a:r>
            <a:r>
              <a:rPr/>
              <a:t>onsistency (Konzisztencia) - Érvényes állapotok</a:t>
            </a:r>
          </a:p>
          <a:p>
            <a:pPr lvl="0"/>
            <a:r>
              <a:rPr b="1"/>
              <a:t>I</a:t>
            </a:r>
            <a:r>
              <a:rPr/>
              <a:t>solation (Izoláltság) - Függetlenek egymástól</a:t>
            </a:r>
          </a:p>
          <a:p>
            <a:pPr lvl="0"/>
            <a:r>
              <a:rPr b="1"/>
              <a:t>D</a:t>
            </a:r>
            <a:r>
              <a:rPr/>
              <a:t>urability (Tartósság) - Megmarad a változás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Példa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Pénzátutalás: le kell vonni ÉS hozzá kell adni, nem csak az egyik!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Web Alkalmazások Architektúrája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Hogyan működik egy webes adatbázis-alkalmazás?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modern weboldalak </a:t>
            </a:r>
            <a:r>
              <a:rPr b="1"/>
              <a:t>3 rétegű architektúrát</a:t>
            </a:r>
            <a:r>
              <a:rPr/>
              <a:t> használnak:</a:t>
            </a:r>
          </a:p>
          <a:p>
            <a:pPr lvl="0" indent="-342900" marL="342900">
              <a:buAutoNum type="arabicPeriod"/>
            </a:pPr>
            <a:r>
              <a:rPr b="1"/>
              <a:t>Kliens réteg</a:t>
            </a:r>
            <a:r>
              <a:rPr/>
              <a:t> (Frontend) - böngésző, mobilalkalmazás</a:t>
            </a:r>
          </a:p>
          <a:p>
            <a:pPr lvl="0" indent="-342900" marL="342900">
              <a:buAutoNum type="arabicPeriod"/>
            </a:pPr>
            <a:r>
              <a:rPr b="1"/>
              <a:t>Alkalmazás réteg</a:t>
            </a:r>
            <a:r>
              <a:rPr/>
              <a:t> (Backend) - PHP, Python, Node.js</a:t>
            </a:r>
          </a:p>
          <a:p>
            <a:pPr lvl="0" indent="-342900" marL="342900">
              <a:buAutoNum type="arabicPeriod"/>
            </a:pPr>
            <a:r>
              <a:rPr b="1"/>
              <a:t>Adatbázis réteg</a:t>
            </a:r>
            <a:r>
              <a:rPr/>
              <a:t> - MySQL/MariaDB, PostgreSQL</a:t>
            </a:r>
          </a:p>
          <a:p>
            <a:pPr lvl="0" indent="0" marL="0">
              <a:buNone/>
            </a:pPr>
            <a:r>
              <a:rPr b="1"/>
              <a:t>Példa:</a:t>
            </a:r>
            <a:r>
              <a:rPr/>
              <a:t> webshop, közösségi oldal, online bank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Hagyományos Web Architektúra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Komponensek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[Felhasználó Böngészője]
         ↕ HTTP Request/Response
    [Webszerver: Apache/Nginx]
         ↕
    [PHP Alkalmazás]
         ↕ SQL lekérdezések
    [MariaDB/MySQL Adatbázis]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Folyamat lépései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🌐 Felhasználó megnyit egy weboldalt (pl. </a:t>
            </a:r>
            <a:r>
              <a:rPr>
                <a:latin typeface="Courier"/>
              </a:rPr>
              <a:t>webshop.hu/termekek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📡 Böngésző HTTP kérést küld a szervernek</a:t>
            </a:r>
          </a:p>
          <a:p>
            <a:pPr lvl="0" indent="-342900" marL="342900">
              <a:buAutoNum type="arabicPeriod"/>
            </a:pPr>
            <a:r>
              <a:rPr/>
              <a:t>⚙️ Webszerver (Apache/Nginx) fogadja a kérést</a:t>
            </a:r>
          </a:p>
          <a:p>
            <a:pPr lvl="0" indent="-342900" marL="342900">
              <a:buAutoNum type="arabicPeriod"/>
            </a:pPr>
            <a:r>
              <a:rPr/>
              <a:t>🐘 PHP feldolgozza az oldalt, SQL lekérdezést küld</a:t>
            </a:r>
          </a:p>
          <a:p>
            <a:pPr lvl="0" indent="-342900" marL="342900">
              <a:buAutoNum type="arabicPeriod"/>
            </a:pPr>
            <a:r>
              <a:rPr/>
              <a:t>🗄️ MariaDB visszaadja az adatokat</a:t>
            </a:r>
          </a:p>
          <a:p>
            <a:pPr lvl="0" indent="-342900" marL="342900">
              <a:buAutoNum type="arabicPeriod"/>
            </a:pPr>
            <a:r>
              <a:rPr/>
              <a:t>🎨 PHP generál HTML-t az adatokból</a:t>
            </a:r>
          </a:p>
          <a:p>
            <a:pPr lvl="0" indent="-342900" marL="342900">
              <a:buAutoNum type="arabicPeriod"/>
            </a:pPr>
            <a:r>
              <a:rPr/>
              <a:t>📤 Webszerver visszaküldi a HTML-t a böngészőnek</a:t>
            </a:r>
          </a:p>
          <a:p>
            <a:pPr lvl="0" indent="-342900" marL="342900">
              <a:buAutoNum type="arabicPeriod"/>
            </a:pPr>
            <a:r>
              <a:rPr/>
              <a:t>🖥️ Böngésző megjeleníti az oldalt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Példa: Termék Lista Lekérdezése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Felhasználó kérése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GET http://webshop.hu/termekek.php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PHP kód (termekek.php)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&lt;?php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Adatbázis kapcsolat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$conn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mysqli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"localhost"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"pass"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"webshop_db"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SQL lekérdezés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$sql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"SELECT nev, ar, keszlet FROM termekek WHERE keszlet &gt; 0"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$result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$conn</a:t>
            </a:r>
            <a:r>
              <a:rPr>
                <a:latin typeface="Courier"/>
              </a:rPr>
              <a:t>-&gt;query(</a:t>
            </a:r>
            <a:r>
              <a:rPr>
                <a:solidFill>
                  <a:srgbClr val="19177C"/>
                </a:solidFill>
                <a:latin typeface="Courier"/>
              </a:rPr>
              <a:t>$sql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HTML generálás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"&lt;h1&gt;Termékek&lt;/h1&gt;&lt;ul&gt;"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$row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$result</a:t>
            </a:r>
            <a:r>
              <a:rPr>
                <a:latin typeface="Courier"/>
              </a:rPr>
              <a:t>-&gt;fetch_assoc()) 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"&lt;li&gt;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$row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'nev'</a:t>
            </a:r>
            <a:r>
              <a:rPr>
                <a:latin typeface="Courier"/>
              </a:rPr>
              <a:t>]}</a:t>
            </a:r>
            <a:r>
              <a:rPr>
                <a:solidFill>
                  <a:srgbClr val="4070A0"/>
                </a:solidFill>
                <a:latin typeface="Courier"/>
              </a:rPr>
              <a:t> - 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$row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'ar'</a:t>
            </a:r>
            <a:r>
              <a:rPr>
                <a:latin typeface="Courier"/>
              </a:rPr>
              <a:t>]}</a:t>
            </a:r>
            <a:r>
              <a:rPr>
                <a:solidFill>
                  <a:srgbClr val="4070A0"/>
                </a:solidFill>
                <a:latin typeface="Courier"/>
              </a:rPr>
              <a:t> Ft&lt;/li&gt;"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"&lt;/ul&gt;"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?&gt;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MariaDB válasz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Laptop - 250000 Ft
Egér - 5000 Ft
...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Modern Web API Architektúra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RESTful API struktúra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[Weboldal/Mobil App]
         ↕ JSON
    [API Szerver (PHP/Node.js)]
         ↕ SQL
    [MariaDB Adatbázis]</a:t>
            </a:r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Miért jobb?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Szeparáció</a:t>
            </a:r>
            <a:r>
              <a:rPr/>
              <a:t> - Frontend és Backend külön fejleszthető</a:t>
            </a:r>
            <a:br/>
            <a:r>
              <a:rPr/>
              <a:t>✅ </a:t>
            </a:r>
            <a:r>
              <a:rPr b="1"/>
              <a:t>Többplatformos</a:t>
            </a:r>
            <a:r>
              <a:rPr/>
              <a:t> - Azonos API web, mobil, desktop appoknak</a:t>
            </a:r>
            <a:br/>
            <a:r>
              <a:rPr/>
              <a:t>✅ </a:t>
            </a:r>
            <a:r>
              <a:rPr b="1"/>
              <a:t>JSON formátum</a:t>
            </a:r>
            <a:r>
              <a:rPr/>
              <a:t> - Modern, strukturált adatcsere</a:t>
            </a:r>
            <a:br/>
            <a:r>
              <a:rPr/>
              <a:t>✅ </a:t>
            </a:r>
            <a:r>
              <a:rPr b="1"/>
              <a:t>Skálázhatóság</a:t>
            </a:r>
            <a:r>
              <a:rPr/>
              <a:t> - Könnyebb terheléselosztás</a:t>
            </a:r>
          </a:p>
        </p:txBody>
      </p:sp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API Példa: Termékek lekérdezése</a:t>
            </a:r>
          </a:p>
        </p:txBody>
      </p:sp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API kérés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JavaScript (böngészőben fut)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fetch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'http://webshop.hu/api/termekek'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then</a:t>
            </a:r>
            <a:r>
              <a:rPr>
                <a:latin typeface="Courier"/>
              </a:rPr>
              <a:t>(response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response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json</a:t>
            </a:r>
            <a:r>
              <a:rPr>
                <a:latin typeface="Courier"/>
              </a:rPr>
              <a:t>())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then</a:t>
            </a:r>
            <a:r>
              <a:rPr>
                <a:latin typeface="Courier"/>
              </a:rPr>
              <a:t>(data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   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latin typeface="Courier"/>
              </a:rPr>
              <a:t>(termek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(termek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nev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termek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ar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API válasz (JSON formátum)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7020"/>
                </a:solidFill>
                <a:latin typeface="Courier"/>
              </a:rPr>
              <a:t>[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"nev"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"Laptop"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"ar"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250000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"keszlet"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"nev"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"Egér"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"ar"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"keszlet"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"nev"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"Billentyűzet"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"ar"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15000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"keszlet"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07020"/>
                </a:solidFill>
                <a:latin typeface="Courier"/>
              </a:rPr>
              <a:t>]</a:t>
            </a:r>
          </a:p>
        </p:txBody>
      </p:sp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API Backend - PHP példa</a:t>
            </a:r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 endpoint (api/termekek.php)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&lt;?php</a:t>
            </a:r>
            <a:br/>
            <a:r>
              <a:rPr>
                <a:solidFill>
                  <a:srgbClr val="06287E"/>
                </a:solidFill>
                <a:latin typeface="Courier"/>
              </a:rPr>
              <a:t>header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'Content-Type: application/json'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Adatbázis kapcsolat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$conn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mysqli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"localhost"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"pass"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"webshop_db"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SQL lekérdezés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$sql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"SELECT id, nev, ar, keszlet FROM termekek WHERE keszlet &gt; 0"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$result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$conn</a:t>
            </a:r>
            <a:r>
              <a:rPr>
                <a:latin typeface="Courier"/>
              </a:rPr>
              <a:t>-&gt;query(</a:t>
            </a:r>
            <a:r>
              <a:rPr>
                <a:solidFill>
                  <a:srgbClr val="19177C"/>
                </a:solidFill>
                <a:latin typeface="Courier"/>
              </a:rPr>
              <a:t>$sql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Adatok JSON formátumba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$termekek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array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$row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$result</a:t>
            </a:r>
            <a:r>
              <a:rPr>
                <a:latin typeface="Courier"/>
              </a:rPr>
              <a:t>-&gt;fetch_assoc())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$termekek</a:t>
            </a:r>
            <a:r>
              <a:rPr>
                <a:latin typeface="Courier"/>
              </a:rPr>
              <a:t>[]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$row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JSON válasz küldése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json_encode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$termekek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?&gt;</a:t>
            </a:r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 csinál?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JSON formátumú választ küld</a:t>
            </a:r>
          </a:p>
          <a:p>
            <a:pPr lvl="0" indent="-342900" marL="342900">
              <a:buAutoNum type="arabicPeriod"/>
            </a:pPr>
            <a:r>
              <a:rPr/>
              <a:t>Adatbázisból lekérdezi a termékeket</a:t>
            </a:r>
          </a:p>
          <a:p>
            <a:pPr lvl="0" indent="-342900" marL="342900">
              <a:buAutoNum type="arabicPeriod"/>
            </a:pPr>
            <a:r>
              <a:rPr/>
              <a:t>PHP tömbként tárolja</a:t>
            </a:r>
          </a:p>
          <a:p>
            <a:pPr lvl="0" indent="-342900" marL="342900">
              <a:buAutoNum type="arabicPeriod"/>
            </a:pPr>
            <a:r>
              <a:rPr/>
              <a:t>JSON-né alakítja (</a:t>
            </a:r>
            <a:r>
              <a:rPr>
                <a:latin typeface="Courier"/>
              </a:rPr>
              <a:t>json_encode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Visszaküldi a kliensnek</a:t>
            </a:r>
          </a:p>
        </p:txBody>
      </p:sp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Request-Response Folyamat részletesen</a:t>
            </a:r>
          </a:p>
        </p:txBody>
      </p:sp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Példa: Bejelentkezés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Kliens kérés (HTTP POST)</a:t>
            </a:r>
          </a:p>
          <a:p>
            <a:pPr lvl="0" indent="0">
              <a:buNone/>
            </a:pPr>
            <a:r>
              <a:rPr>
                <a:latin typeface="Courier"/>
              </a:rPr>
              <a:t>POST /api/login HTTP/1.1
Host: webshop.hu
Content-Type: application/json
{
    "email": "kiss.anna@email.hu",
    "password": "titkos123"
}</a:t>
            </a:r>
          </a:p>
          <a:p>
            <a:pPr lvl="0" indent="0" marL="0">
              <a:buNone/>
            </a:pPr>
            <a:r>
              <a:rPr b="1"/>
              <a:t>2. PHP feldolgozás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$email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$_POST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$password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$_POST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'password'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Biztonságos jelszó hash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$sql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"SELECT id, nev FROM felhasznalok 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WHERE email = ? AND password_hash = SHA2(?, 256)"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3. MariaDB válasz</a:t>
            </a:r>
          </a:p>
          <a:p>
            <a:pPr lvl="0" indent="0">
              <a:buNone/>
            </a:pPr>
            <a:r>
              <a:rPr>
                <a:latin typeface="Courier"/>
              </a:rPr>
              <a:t>id: 42, nev: Kiss Anna</a:t>
            </a:r>
          </a:p>
          <a:p>
            <a:pPr lvl="0" indent="0" marL="0">
              <a:buNone/>
            </a:pPr>
            <a:r>
              <a:rPr b="1"/>
              <a:t>4. Szerver válasz (JSON)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"success"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"user"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"Kiss Anna"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"token"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"eyJhbGciOiJIUzI1..."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Teljes Architektúra Diagram</a:t>
            </a:r>
          </a:p>
        </p:txBody>
      </p:sp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Komponensek és kapcsolataik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┌─────────────────────────────────────────┐
│         KLIENS RÉTEG                    │
│  ┌──────────┐  ┌──────────┐            │
│  │ Böngésző │  │ Mobil App│            │
│  └────┬─────┘  └────┬─────┘            │
└───────┼─────────────┼──────────────────┘
        │             │
        │  HTTP/HTTPS (JSON/HTML)
        │             │
┌───────┼─────────────┼──────────────────┐
│       ▼             ▼                   │
│   ┌─────────────────────────┐          │
│   │  Webszerver             │          │
│   │  Apache / Nginx         │          │
│   └──────────┬──────────────┘          │
│              │                          │
│   ┌──────────▼──────────────┐          │
│   │  Alkalmazás Szerver     │          │
│   │  PHP / Node.js / Python │          │
│   └──────────┬──────────────┘          │
│         ALKALMAZÁS RÉTEG                │
└──────────────┼──────────────────────────┘
               │
               │  SQL lekérdezések
               │
┌──────────────▼──────────────────────────┐
│         ADATBÁZIS RÉTEG                 │
│   ┌─────────────────────────┐           │
│   │  MariaDB / MySQL        │           │
│   │  ┌─────┐  ┌─────┐       │           │
│   │  │Tábla│  │Tábla│ ...   │           │
│   │  └─────┘  └─────┘       │           │
│   └─────────────────────────┘           │
└─────────────────────────────────────────┘</a:t>
            </a:r>
          </a:p>
        </p:txBody>
      </p:sp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Konkrét példa: Webshop</a:t>
            </a:r>
          </a:p>
        </p:txBody>
      </p:sp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Architektúra komponensei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Frontend (Kliens)</a:t>
            </a:r>
            <a:r>
              <a:rPr/>
              <a:t> - HTML, CSS, JavaScript - React / Vue.js (opcionális) - Böngészőben fut</a:t>
            </a:r>
          </a:p>
          <a:p>
            <a:pPr lvl="0" indent="0" marL="0">
              <a:buNone/>
            </a:pPr>
            <a:r>
              <a:rPr b="1"/>
              <a:t>Backend (Szerver)</a:t>
            </a:r>
            <a:r>
              <a:rPr/>
              <a:t> - </a:t>
            </a:r>
            <a:r>
              <a:rPr b="1"/>
              <a:t>Webszerver</a:t>
            </a:r>
            <a:r>
              <a:rPr/>
              <a:t>: Nginx vagy Apache - </a:t>
            </a:r>
            <a:r>
              <a:rPr b="1"/>
              <a:t>Alkalmazás</a:t>
            </a:r>
            <a:r>
              <a:rPr/>
              <a:t>: PHP 8.x - </a:t>
            </a:r>
            <a:r>
              <a:rPr b="1"/>
              <a:t>Port</a:t>
            </a:r>
            <a:r>
              <a:rPr/>
              <a:t>: 80 (HTTP) vagy 443 (HTTPS)</a:t>
            </a:r>
          </a:p>
          <a:p>
            <a:pPr lvl="0" indent="0" marL="0">
              <a:buNone/>
            </a:pPr>
            <a:r>
              <a:rPr b="1"/>
              <a:t>Adatbázis</a:t>
            </a:r>
            <a:r>
              <a:rPr/>
              <a:t> - </a:t>
            </a:r>
            <a:r>
              <a:rPr b="1"/>
              <a:t>DBMS</a:t>
            </a:r>
            <a:r>
              <a:rPr/>
              <a:t>: MariaDB 10.x - </a:t>
            </a:r>
            <a:r>
              <a:rPr b="1"/>
              <a:t>Port</a:t>
            </a:r>
            <a:r>
              <a:rPr/>
              <a:t>: 3306 - </a:t>
            </a:r>
            <a:r>
              <a:rPr b="1"/>
              <a:t>Táblák</a:t>
            </a:r>
            <a:r>
              <a:rPr/>
              <a:t>: termekek, rendelesek, felhasznalok</a:t>
            </a:r>
          </a:p>
        </p:txBody>
      </p:sp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Webshop példa - Request folyamat</a:t>
            </a:r>
          </a:p>
        </p:txBody>
      </p:sp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Termék keresés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Felhasználó: "laptop" → Keresés gomb
   ↓
Böngésző: GET /api/kereses?q=laptop
   ↓
Nginx: Kérés továbbítása PHP-nak
   ↓
PHP: SELECT * FROM termekek WHERE nev LIKE '%laptop%'
   ↓
MariaDB: [Laptop 1, Laptop 2, Laptop 3]
   ↓
PHP: JSON generálás
   ↓
Nginx: JSON küldése
   ↓
Böngésző: Megjelenítés</a:t>
            </a:r>
          </a:p>
        </p:txBody>
      </p:sp>
    </p:spTree>
  </p:cSld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Kosárba helyezés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Felhasználó: "Kosárba" gomb kattintás
   ↓
JavaScript: POST /api/kosar {"termek_id": 5, "mennyiseg": 1}
   ↓
PHP: INSERT INTO kosar (felhasznalo_id, termek_id, mennyiseg) VALUES (...)
   ↓
MariaDB: OK, rekord beszúrva
   ↓
PHP: {"success": true, "message": "Kosárba helyezve"}
   ↓
Böngésző: "Sikeresen hozzáadva!" üzenet</a:t>
            </a:r>
          </a:p>
        </p:txBody>
      </p:sp>
    </p:spTree>
  </p:cSld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Biztonság webes környezetben</a:t>
            </a:r>
          </a:p>
        </p:txBody>
      </p:sp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Injection védelem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❌ Veszélyes kód: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$sql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"SELECT * FROM users WHERE email = '"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$_POST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"'"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Támadás: ' OR '1'='1</a:t>
            </a:r>
          </a:p>
          <a:p>
            <a:pPr lvl="0" indent="0" marL="0">
              <a:buNone/>
            </a:pPr>
            <a:r>
              <a:rPr b="1"/>
              <a:t>✅ Biztonságos kód: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$stmt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$conn</a:t>
            </a:r>
            <a:r>
              <a:rPr>
                <a:latin typeface="Courier"/>
              </a:rPr>
              <a:t>-&gt;prepare(</a:t>
            </a:r>
            <a:r>
              <a:rPr>
                <a:solidFill>
                  <a:srgbClr val="4070A0"/>
                </a:solidFill>
                <a:latin typeface="Courier"/>
              </a:rPr>
              <a:t>"SELECT * FROM users WHERE email = ?"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$stmt</a:t>
            </a:r>
            <a:r>
              <a:rPr>
                <a:latin typeface="Courier"/>
              </a:rPr>
              <a:t>-&gt;bind_param(</a:t>
            </a:r>
            <a:r>
              <a:rPr>
                <a:solidFill>
                  <a:srgbClr val="4070A0"/>
                </a:solidFill>
                <a:latin typeface="Courier"/>
              </a:rPr>
              <a:t>"s"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$_POST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latin typeface="Courier"/>
              </a:rPr>
              <a:t>])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solidFill>
                  <a:srgbClr val="19177C"/>
                </a:solidFill>
                <a:latin typeface="Courier"/>
              </a:rPr>
              <a:t>$stmt</a:t>
            </a:r>
            <a:r>
              <a:rPr>
                <a:latin typeface="Courier"/>
              </a:rPr>
              <a:t>-&gt;execute()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Prepared statements használata!</a:t>
            </a:r>
          </a:p>
        </p:txBody>
      </p:sp>
    </p:spTree>
  </p:cSld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További biztonsági lépések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🔒 HTTPS használata (SSL/TLS)</a:t>
            </a:r>
          </a:p>
          <a:p>
            <a:pPr lvl="0"/>
            <a:r>
              <a:rPr/>
              <a:t>🔑 Jelszavak hash-elése (bcrypt, SHA-256)</a:t>
            </a:r>
          </a:p>
          <a:p>
            <a:pPr lvl="0"/>
            <a:r>
              <a:rPr/>
              <a:t>🚫 XSS védelem (input szűrés)</a:t>
            </a:r>
          </a:p>
          <a:p>
            <a:pPr lvl="0"/>
            <a:r>
              <a:rPr/>
              <a:t>🛡️ CSRF tokenek</a:t>
            </a:r>
          </a:p>
          <a:p>
            <a:pPr lvl="0"/>
            <a:r>
              <a:rPr/>
              <a:t>⏱️ Rate limiting (túl sok kérés blokkolása)</a:t>
            </a:r>
          </a:p>
        </p:txBody>
      </p:sp>
    </p:spTree>
  </p:cSld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Teljesítmény optimalizálás</a:t>
            </a:r>
          </a:p>
        </p:txBody>
      </p:sp>
    </p:spTree>
  </p:cSld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Adatbázis szinten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Index létrehozása gyakori keresésekhez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INDEX</a:t>
            </a:r>
            <a:r>
              <a:rPr>
                <a:latin typeface="Courier"/>
              </a:rPr>
              <a:t> idx_termek_nev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termekek(nev);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Lekérdezés optimalizálás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, nev, ar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termekek  </a:t>
            </a:r>
            <a:r>
              <a:rPr i="1">
                <a:solidFill>
                  <a:srgbClr val="60A0B0"/>
                </a:solidFill>
                <a:latin typeface="Courier"/>
              </a:rPr>
              <a:t>-- csak szükséges oszlopok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kategoria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'Laptop'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;  </a:t>
            </a:r>
            <a:r>
              <a:rPr i="1">
                <a:solidFill>
                  <a:srgbClr val="60A0B0"/>
                </a:solidFill>
                <a:latin typeface="Courier"/>
              </a:rPr>
              <a:t>-- lapozás</a:t>
            </a:r>
          </a:p>
        </p:txBody>
      </p:sp>
    </p:spTree>
  </p:cSld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Alkalmazás szinten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Caching</a:t>
            </a:r>
            <a:r>
              <a:rPr/>
              <a:t>: Redis, Memcached</a:t>
            </a:r>
          </a:p>
          <a:p>
            <a:pPr lvl="0"/>
            <a:r>
              <a:rPr b="1"/>
              <a:t>Connection pooling</a:t>
            </a:r>
            <a:r>
              <a:rPr/>
              <a:t>: Adatbázis kapcsolatok újrahasznosítása</a:t>
            </a:r>
          </a:p>
          <a:p>
            <a:pPr lvl="0"/>
            <a:r>
              <a:rPr b="1"/>
              <a:t>Lazy loading</a:t>
            </a:r>
            <a:r>
              <a:rPr/>
              <a:t>: Adatok betöltése csak szükség esetén</a:t>
            </a:r>
          </a:p>
        </p:txBody>
      </p:sp>
    </p:spTree>
  </p:cSld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Webszerver szinten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Nginx</a:t>
            </a:r>
            <a:r>
              <a:rPr/>
              <a:t>: Static fájlok kiszolgálása (képek, CSS, JS)</a:t>
            </a:r>
          </a:p>
          <a:p>
            <a:pPr lvl="0"/>
            <a:r>
              <a:rPr b="1"/>
              <a:t>Gzip tömörítés</a:t>
            </a:r>
            <a:r>
              <a:rPr/>
              <a:t>: Kisebb adatforgalom</a:t>
            </a:r>
          </a:p>
          <a:p>
            <a:pPr lvl="0"/>
            <a:r>
              <a:rPr b="1"/>
              <a:t>CDN</a:t>
            </a:r>
            <a:r>
              <a:rPr/>
              <a:t>: Statikus tartalmak gyorsítása</a:t>
            </a:r>
          </a:p>
        </p:txBody>
      </p:sp>
    </p:spTree>
  </p:cSld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Balancing - Nagy forgalom kezelése</a:t>
            </a:r>
          </a:p>
        </p:txBody>
      </p:sp>
    </p:spTree>
  </p:cSld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Horizontális skálázás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[Terheléselosztó]
                       │
        ┌──────────────┼──────────────┐
        │              │              │
    [Web Srv 1]   [Web Srv 2]   [Web Srv 3]
        │              │              │
        └──────────────┼──────────────┘
                       │
              [Adatbázis Szerver]
             [Master-Slave replikáció]</a:t>
            </a:r>
          </a:p>
        </p:txBody>
      </p:sp>
    </p:spTree>
  </p:cSld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Miért fontos?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🚀 Több ezer egyidejű felhasználó kiszolgálása</a:t>
            </a:r>
          </a:p>
          <a:p>
            <a:pPr lvl="0"/>
            <a:r>
              <a:rPr/>
              <a:t>💪 Ha egy szerver leáll, mások tovább működnek</a:t>
            </a:r>
          </a:p>
          <a:p>
            <a:pPr lvl="0"/>
            <a:r>
              <a:rPr/>
              <a:t>📈 Forgalom növekedéssel könnyű bővíteni</a:t>
            </a:r>
          </a:p>
        </p:txBody>
      </p:sp>
    </p:spTree>
  </p:cSld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Mikroszerviz Architektúra (Modern megközelítés)</a:t>
            </a:r>
          </a:p>
        </p:txBody>
      </p:sp>
    </p:spTree>
  </p:cSld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Szolgáltatások szétbontása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[Frontend]
    ↓
[API Gateway]
    ├→ [Felhasználó szolgáltatás] → [User DB]
    ├→ [Termék szolgáltatás] → [Product DB]
    ├→ [Rendelés szolgáltatás] → [Order DB]
    └→ [Fizetés szolgáltatás] → [Payment DB]</a:t>
            </a:r>
          </a:p>
        </p:txBody>
      </p:sp>
    </p:spTree>
  </p:cSld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Előnyök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Független fejlesztés és deployment</a:t>
            </a:r>
            <a:br/>
            <a:r>
              <a:rPr/>
              <a:t>✅ Különböző technológiák használata</a:t>
            </a:r>
            <a:br/>
            <a:r>
              <a:rPr/>
              <a:t>✅ Jobb skálázhatóság</a:t>
            </a:r>
            <a:br/>
            <a:r>
              <a:rPr/>
              <a:t>✅ Hibák izolálása</a:t>
            </a:r>
          </a:p>
        </p:txBody>
      </p:sp>
    </p:spTree>
  </p:cSld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Példák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Netflix, Amazon, Uber - mind mikroszerviz alapú</a:t>
            </a:r>
          </a:p>
        </p:txBody>
      </p:sp>
    </p:spTree>
  </p:cSld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Adatbázisok a való világban</a:t>
            </a:r>
          </a:p>
        </p:txBody>
      </p:sp>
    </p:spTree>
  </p:cSld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Közösségi média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Facebook: milliárd felhasználó adatai</a:t>
            </a:r>
          </a:p>
          <a:p>
            <a:pPr lvl="0"/>
            <a:r>
              <a:rPr/>
              <a:t>Instagram: képek, kommentek, lájkok</a:t>
            </a:r>
          </a:p>
          <a:p>
            <a:pPr lvl="0"/>
            <a:r>
              <a:rPr/>
              <a:t>TikTok: videók, követések, interakciók</a:t>
            </a:r>
          </a:p>
        </p:txBody>
      </p:sp>
    </p:spTree>
  </p:cSld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E-kereskedelem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Amazon, eMag: termékek, rendelések, készlet</a:t>
            </a:r>
          </a:p>
          <a:p>
            <a:pPr lvl="0"/>
            <a:r>
              <a:rPr/>
              <a:t>Felhasználói profilok, kívánságlisták</a:t>
            </a:r>
          </a:p>
          <a:p>
            <a:pPr lvl="0"/>
            <a:r>
              <a:rPr/>
              <a:t>Értékelések és vélemények</a:t>
            </a:r>
          </a:p>
        </p:txBody>
      </p:sp>
    </p:spTree>
  </p:cSld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Egészségügy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Betegadatok, kezelések története</a:t>
            </a:r>
          </a:p>
          <a:p>
            <a:pPr lvl="0"/>
            <a:r>
              <a:rPr/>
              <a:t>Orvosi leitek, receptek</a:t>
            </a:r>
          </a:p>
          <a:p>
            <a:pPr lvl="0"/>
            <a:r>
              <a:rPr/>
              <a:t>Sürgősségi információk</a:t>
            </a:r>
          </a:p>
        </p:txBody>
      </p:sp>
    </p:spTree>
  </p:cSld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Adatbázisok a mindennapokban</a:t>
            </a:r>
          </a:p>
        </p:txBody>
      </p:sp>
    </p:spTree>
  </p:cSld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Iskolai rendszerek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Elektronikus napló (Kréta, e-Napló)</a:t>
            </a:r>
          </a:p>
          <a:p>
            <a:pPr lvl="0"/>
            <a:r>
              <a:rPr/>
              <a:t>Diákok, tanárok, jegyek, hiányzások</a:t>
            </a:r>
          </a:p>
          <a:p>
            <a:pPr lvl="0"/>
            <a:r>
              <a:rPr/>
              <a:t>Órarend, tantárgyak</a:t>
            </a:r>
          </a:p>
        </p:txBody>
      </p:sp>
    </p:spTree>
  </p:cSld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Közlekedés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Jegyrendszerek (BKK, MÁV)</a:t>
            </a:r>
          </a:p>
          <a:p>
            <a:pPr lvl="0"/>
            <a:r>
              <a:rPr/>
              <a:t>Navigációs alkalmazások</a:t>
            </a:r>
          </a:p>
          <a:p>
            <a:pPr lvl="0"/>
            <a:r>
              <a:rPr/>
              <a:t>Járatinformációk</a:t>
            </a:r>
          </a:p>
        </p:txBody>
      </p:sp>
    </p:spTree>
  </p:cSld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Szórakozás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Netflix, Spotify: ajánlórendszerek</a:t>
            </a:r>
          </a:p>
          <a:p>
            <a:pPr lvl="0"/>
            <a:r>
              <a:rPr/>
              <a:t>Játékok: játékos profilok, eredmények</a:t>
            </a:r>
          </a:p>
          <a:p>
            <a:pPr lvl="0"/>
            <a:r>
              <a:rPr/>
              <a:t>YouTube: videók, feliratkozások</a:t>
            </a:r>
          </a:p>
        </p:txBody>
      </p:sp>
    </p:spTree>
  </p:cSld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Adatvédelem és GDPR</a:t>
            </a:r>
          </a:p>
        </p:txBody>
      </p:sp>
    </p:spTree>
  </p:cSld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Miért fontos?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Személyes adatok védelme</a:t>
            </a:r>
          </a:p>
          <a:p>
            <a:pPr lvl="0"/>
            <a:r>
              <a:rPr/>
              <a:t>Magánélet tiszteletben tartása</a:t>
            </a:r>
          </a:p>
          <a:p>
            <a:pPr lvl="0"/>
            <a:r>
              <a:rPr/>
              <a:t>Jogi megfelelés</a:t>
            </a:r>
          </a:p>
        </p:txBody>
      </p:sp>
    </p:spTree>
  </p:cSld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alapelvek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Adattakarékosság</a:t>
            </a:r>
            <a:r>
              <a:rPr/>
              <a:t> - csak a szükséges adatok</a:t>
            </a:r>
          </a:p>
          <a:p>
            <a:pPr lvl="0"/>
            <a:r>
              <a:rPr b="1"/>
              <a:t>Célhoz kötöttség</a:t>
            </a:r>
            <a:r>
              <a:rPr/>
              <a:t> - konkrét célra</a:t>
            </a:r>
          </a:p>
          <a:p>
            <a:pPr lvl="0"/>
            <a:r>
              <a:rPr b="1"/>
              <a:t>Transzparencia</a:t>
            </a:r>
            <a:r>
              <a:rPr/>
              <a:t> - tudd, mit tárolnak</a:t>
            </a:r>
          </a:p>
          <a:p>
            <a:pPr lvl="0"/>
            <a:r>
              <a:rPr b="1"/>
              <a:t>Törléshez való jog</a:t>
            </a:r>
            <a:r>
              <a:rPr/>
              <a:t> - kérheted az adataid törlését</a:t>
            </a:r>
          </a:p>
          <a:p>
            <a:pPr lvl="0"/>
            <a:r>
              <a:rPr b="1"/>
              <a:t>Hozzáférés joga</a:t>
            </a:r>
            <a:r>
              <a:rPr/>
              <a:t> - megnézheted az adataid</a:t>
            </a:r>
          </a:p>
        </p:txBody>
      </p:sp>
    </p:spTree>
  </p:cSld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Karrierlehetőségek</a:t>
            </a:r>
          </a:p>
        </p:txBody>
      </p:sp>
    </p:spTree>
  </p:cSld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Adatbázis-adminisztrátor (DBA)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Adatbázisok telepítése, karbantartása</a:t>
            </a:r>
          </a:p>
          <a:p>
            <a:pPr lvl="0"/>
            <a:r>
              <a:rPr/>
              <a:t>Teljesítmény optimalizálás</a:t>
            </a:r>
          </a:p>
          <a:p>
            <a:pPr lvl="0"/>
            <a:r>
              <a:rPr/>
              <a:t>Biztonsági mentések kezelése</a:t>
            </a:r>
          </a:p>
        </p:txBody>
      </p:sp>
    </p:spTree>
  </p:cSld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Adatbázis-fejlesztő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Adatbázis tervezése</a:t>
            </a:r>
          </a:p>
          <a:p>
            <a:pPr lvl="0"/>
            <a:r>
              <a:rPr/>
              <a:t>SQL lekérdezések írása</a:t>
            </a:r>
          </a:p>
          <a:p>
            <a:pPr lvl="0"/>
            <a:r>
              <a:rPr/>
              <a:t>Alkalmazások adatbázis-kapcsolatának fejlesztése</a:t>
            </a:r>
          </a:p>
        </p:txBody>
      </p:sp>
    </p:spTree>
  </p:cSld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Adatelemző / Data Scientist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Nagy adathalmazok elemzése</a:t>
            </a:r>
          </a:p>
          <a:p>
            <a:pPr lvl="0"/>
            <a:r>
              <a:rPr/>
              <a:t>Minták felismerése</a:t>
            </a:r>
          </a:p>
          <a:p>
            <a:pPr lvl="0"/>
            <a:r>
              <a:rPr/>
              <a:t>Üzleti döntések támogatása</a:t>
            </a:r>
          </a:p>
        </p:txBody>
      </p:sp>
    </p:spTree>
  </p:cSld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Hasznos eszközök tanuláshoz</a:t>
            </a:r>
          </a:p>
        </p:txBody>
      </p:sp>
    </p:spTree>
  </p:cSld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Online gyakorlóprogramok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W3Schools SQL Tutorial</a:t>
            </a:r>
            <a:r>
              <a:rPr/>
              <a:t> - ingyenes gyakorlatok</a:t>
            </a:r>
          </a:p>
          <a:p>
            <a:pPr lvl="0"/>
            <a:r>
              <a:rPr b="1"/>
              <a:t>SQLZoo</a:t>
            </a:r>
            <a:r>
              <a:rPr/>
              <a:t> - interaktív feladatok</a:t>
            </a:r>
          </a:p>
          <a:p>
            <a:pPr lvl="0"/>
            <a:r>
              <a:rPr b="1"/>
              <a:t>LeetCode</a:t>
            </a:r>
            <a:r>
              <a:rPr/>
              <a:t> - programozási feladatok adatbázisokkal</a:t>
            </a:r>
          </a:p>
        </p:txBody>
      </p:sp>
    </p:spTree>
  </p:cSld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Ingyenes adatbázisok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MySQL</a:t>
            </a:r>
            <a:r>
              <a:rPr/>
              <a:t> - letölthető, könnyen telepíthető</a:t>
            </a:r>
          </a:p>
          <a:p>
            <a:pPr lvl="0"/>
            <a:r>
              <a:rPr b="1"/>
              <a:t>PostgreSQL</a:t>
            </a:r>
            <a:r>
              <a:rPr/>
              <a:t> - professzionális funkciók</a:t>
            </a:r>
          </a:p>
          <a:p>
            <a:pPr lvl="0"/>
            <a:r>
              <a:rPr b="1"/>
              <a:t>SQLite</a:t>
            </a:r>
            <a:r>
              <a:rPr/>
              <a:t> - programozás nélkül is használható</a:t>
            </a:r>
          </a:p>
        </p:txBody>
      </p:sp>
    </p:spTree>
  </p:cSld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Vizuális eszközök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phpMyAdmin</a:t>
            </a:r>
            <a:r>
              <a:rPr/>
              <a:t> - webes felület MySQL-hez</a:t>
            </a:r>
          </a:p>
          <a:p>
            <a:pPr lvl="0"/>
            <a:r>
              <a:rPr b="1"/>
              <a:t>DBeaver</a:t>
            </a:r>
            <a:r>
              <a:rPr/>
              <a:t> - univerzális adatbázis-kezelő</a:t>
            </a:r>
          </a:p>
          <a:p>
            <a:pPr lvl="0"/>
            <a:r>
              <a:rPr b="1"/>
              <a:t>MySQL Workbench</a:t>
            </a:r>
            <a:r>
              <a:rPr/>
              <a:t> - tervezés és adminisztráció</a:t>
            </a:r>
          </a:p>
        </p:txBody>
      </p:sp>
    </p:spTree>
  </p:cSld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Gyakorlati tippek</a:t>
            </a:r>
          </a:p>
        </p:txBody>
      </p:sp>
    </p:spTree>
  </p:cSld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Hogyan kezdj neki?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📚 Tanuld meg az SQL alapokat</a:t>
            </a:r>
          </a:p>
          <a:p>
            <a:pPr lvl="0" indent="-342900" marL="342900">
              <a:buAutoNum type="arabicPeriod"/>
            </a:pPr>
            <a:r>
              <a:rPr/>
              <a:t>💻 Telepíts egy ingyenes DBMS-t</a:t>
            </a:r>
          </a:p>
          <a:p>
            <a:pPr lvl="0" indent="-342900" marL="342900">
              <a:buAutoNum type="arabicPeriod"/>
            </a:pPr>
            <a:r>
              <a:rPr/>
              <a:t>🎯 Hozz létre saját projekteket (pl. könyvtár, filmgyűjtemény)</a:t>
            </a:r>
          </a:p>
          <a:p>
            <a:pPr lvl="0" indent="-342900" marL="342900">
              <a:buAutoNum type="arabicPeriod"/>
            </a:pPr>
            <a:r>
              <a:rPr/>
              <a:t>🔍 Gyakorold a lekérdezéseket</a:t>
            </a:r>
          </a:p>
          <a:p>
            <a:pPr lvl="0" indent="-342900" marL="342900">
              <a:buAutoNum type="arabicPeriod"/>
            </a:pPr>
            <a:r>
              <a:rPr/>
              <a:t>🌐 Csatlakozz online közösségekhez</a:t>
            </a:r>
          </a:p>
        </p:txBody>
      </p:sp>
    </p:spTree>
  </p:cSld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Jó gyakorlatok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✍️ Használj beszédes neveket</a:t>
            </a:r>
          </a:p>
          <a:p>
            <a:pPr lvl="0"/>
            <a:r>
              <a:rPr/>
              <a:t>📝 Kommenteld a bonyolult lekérdezéseket</a:t>
            </a:r>
          </a:p>
          <a:p>
            <a:pPr lvl="0"/>
            <a:r>
              <a:rPr/>
              <a:t>💾 Rendszeresen mentsd az adatokat</a:t>
            </a:r>
          </a:p>
          <a:p>
            <a:pPr lvl="0"/>
            <a:r>
              <a:rPr/>
              <a:t>🔒 Soha ne tárolj jelszavakat titkosítás nélkül</a:t>
            </a:r>
          </a:p>
        </p:txBody>
      </p:sp>
    </p:spTree>
  </p:cSld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Összefoglalás</a:t>
            </a:r>
          </a:p>
        </p:txBody>
      </p:sp>
    </p:spTree>
  </p:cSld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 tanultunk?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Mi az adatbázis és miért fontos</a:t>
            </a:r>
          </a:p>
          <a:p>
            <a:pPr lvl="0"/>
            <a:r>
              <a:rPr/>
              <a:t>✅ Relációs adatbázisok felépítése</a:t>
            </a:r>
          </a:p>
          <a:p>
            <a:pPr lvl="0"/>
            <a:r>
              <a:rPr/>
              <a:t>✅ SQL alapműveletek (CREATE, INSERT, SELECT, UPDATE, DELETE)</a:t>
            </a:r>
          </a:p>
          <a:p>
            <a:pPr lvl="0"/>
            <a:r>
              <a:rPr/>
              <a:t>✅ Táblák közötti kapcsolatok</a:t>
            </a:r>
          </a:p>
          <a:p>
            <a:pPr lvl="0"/>
            <a:r>
              <a:rPr/>
              <a:t>✅ Adatbiztonság és integritás</a:t>
            </a:r>
          </a:p>
          <a:p>
            <a:pPr lvl="0"/>
            <a:r>
              <a:rPr/>
              <a:t>✅ Valós alkalmazások</a:t>
            </a:r>
          </a:p>
          <a:p>
            <a:pPr lvl="0"/>
            <a:r>
              <a:rPr/>
              <a:t>✅ Karrierlehetőségek</a:t>
            </a:r>
          </a:p>
        </p:txBody>
      </p:sp>
    </p:spTree>
  </p:cSld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Következő lépések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Gyakorold az SQL-t online platformokon</a:t>
            </a:r>
          </a:p>
          <a:p>
            <a:pPr lvl="0"/>
            <a:r>
              <a:rPr/>
              <a:t>Tervezz saját adatbázist egy kedvenc témádhoz</a:t>
            </a:r>
          </a:p>
          <a:p>
            <a:pPr lvl="0"/>
            <a:r>
              <a:rPr/>
              <a:t>Fedezd fel a fejlettebb adatbázis-koncepciókat</a:t>
            </a:r>
          </a:p>
        </p:txBody>
      </p:sp>
    </p:spTree>
  </p:cSld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Köszönöm a figyelmet!</a:t>
            </a:r>
          </a:p>
        </p:txBody>
      </p:sp>
    </p:spTree>
  </p:cSld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Kérdések?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Hasznos linkek:</a:t>
            </a:r>
          </a:p>
          <a:p>
            <a:pPr lvl="0"/>
            <a:r>
              <a:rPr/>
              <a:t>w3schools.com/sql</a:t>
            </a:r>
          </a:p>
          <a:p>
            <a:pPr lvl="0"/>
            <a:r>
              <a:rPr/>
              <a:t>sqlzoo.net</a:t>
            </a:r>
          </a:p>
          <a:p>
            <a:pPr lvl="0"/>
            <a:r>
              <a:rPr/>
              <a:t>mysql.com</a:t>
            </a:r>
          </a:p>
          <a:p>
            <a:pPr lvl="0"/>
            <a:r>
              <a:rPr/>
              <a:t>postgresql.org</a:t>
            </a:r>
          </a:p>
          <a:p>
            <a:pPr lvl="0" indent="0" marL="0">
              <a:buNone/>
            </a:pPr>
            <a:r>
              <a:rPr b="1"/>
              <a:t>Jó tanulást és sok sikert az adatbázisok világában! 🚀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2025-12-06T21:48:50Z</dcterms:created>
  <dcterms:modified xsi:type="dcterms:W3CDTF">2025-12-06T21:48:50Z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